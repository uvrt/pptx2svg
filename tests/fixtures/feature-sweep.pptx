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svg" ContentType="image/svg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  <p:sldId id="264" r:id="rIdS9"/>
    <p:sldId id="265" r:id="rIdS10"/>
    <p:sldId id="266" r:id="rIdS11"/>
    <p:sldId id="267" r:id="rIdS12"/>
    <p:sldId id="268" r:id="rIdS13"/>
  </p:sldIdLst>
  <p:sldSz cx="9144000" cy="5143500" type="screen16x9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uthoring Contract Layout"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uthoring Contract Master"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Swatch' Type='http://schemas.openxmlformats.org/officeDocument/2006/relationships/image' Target='../media/sweep-swatch.png'/><Relationship Id='rIdBullet' Type='http://schemas.openxmlformats.org/officeDocument/2006/relationships/image' Target='../media/sweep-bullet.png'/><Relationship Id='rIdTile' Type='http://schemas.openxmlformats.org/officeDocument/2006/relationships/image' Target='../media/sweep-tile.png'/><Relationship Id='rIdMark' Type='http://schemas.openxmlformats.org/officeDocument/2006/relationships/image' Target='../media/sweep-mark.svg'/></Relationships>
</file>

<file path=ppt/slides/_rels/slide2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Swatch' Type='http://schemas.openxmlformats.org/officeDocument/2006/relationships/image' Target='../media/sweep-swatch.png'/><Relationship Id='rIdBullet' Type='http://schemas.openxmlformats.org/officeDocument/2006/relationships/image' Target='../media/sweep-bullet.png'/><Relationship Id='rIdTile' Type='http://schemas.openxmlformats.org/officeDocument/2006/relationships/image' Target='../media/sweep-tile.png'/><Relationship Id='rIdMark' Type='http://schemas.openxmlformats.org/officeDocument/2006/relationships/image' Target='../media/sweep-mark.svg'/></Relationships>
</file>

<file path=ppt/slides/_rels/slide3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Swatch' Type='http://schemas.openxmlformats.org/officeDocument/2006/relationships/image' Target='../media/sweep-swatch.png'/><Relationship Id='rIdBullet' Type='http://schemas.openxmlformats.org/officeDocument/2006/relationships/image' Target='../media/sweep-bullet.png'/><Relationship Id='rIdTile' Type='http://schemas.openxmlformats.org/officeDocument/2006/relationships/image' Target='../media/sweep-tile.png'/><Relationship Id='rIdMark' Type='http://schemas.openxmlformats.org/officeDocument/2006/relationships/image' Target='../media/sweep-mark.svg'/></Relationships>
</file>

<file path=ppt/slides/_rels/slide4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Swatch' Type='http://schemas.openxmlformats.org/officeDocument/2006/relationships/image' Target='../media/sweep-swatch.png'/><Relationship Id='rIdBullet' Type='http://schemas.openxmlformats.org/officeDocument/2006/relationships/image' Target='../media/sweep-bullet.png'/><Relationship Id='rIdTile' Type='http://schemas.openxmlformats.org/officeDocument/2006/relationships/image' Target='../media/sweep-tile.png'/><Relationship Id='rIdMark' Type='http://schemas.openxmlformats.org/officeDocument/2006/relationships/image' Target='../media/sweep-mark.svg'/></Relationships>
</file>

<file path=ppt/slides/_rels/slide5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Swatch' Type='http://schemas.openxmlformats.org/officeDocument/2006/relationships/image' Target='../media/sweep-swatch.png'/><Relationship Id='rIdBullet' Type='http://schemas.openxmlformats.org/officeDocument/2006/relationships/image' Target='../media/sweep-bullet.png'/><Relationship Id='rIdTile' Type='http://schemas.openxmlformats.org/officeDocument/2006/relationships/image' Target='../media/sweep-tile.png'/><Relationship Id='rIdMark' Type='http://schemas.openxmlformats.org/officeDocument/2006/relationships/image' Target='../media/sweep-mark.svg'/></Relationships>
</file>

<file path=ppt/slides/_rels/slide6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Swatch' Type='http://schemas.openxmlformats.org/officeDocument/2006/relationships/image' Target='../media/sweep-swatch.png'/><Relationship Id='rIdBullet' Type='http://schemas.openxmlformats.org/officeDocument/2006/relationships/image' Target='../media/sweep-bullet.png'/><Relationship Id='rIdTile' Type='http://schemas.openxmlformats.org/officeDocument/2006/relationships/image' Target='../media/sweep-tile.png'/><Relationship Id='rIdMark' Type='http://schemas.openxmlformats.org/officeDocument/2006/relationships/image' Target='../media/sweep-mark.svg'/></Relationships>
</file>

<file path=ppt/slides/_rels/slide7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Swatch' Type='http://schemas.openxmlformats.org/officeDocument/2006/relationships/image' Target='../media/sweep-swatch.png'/><Relationship Id='rIdBullet' Type='http://schemas.openxmlformats.org/officeDocument/2006/relationships/image' Target='../media/sweep-bullet.png'/><Relationship Id='rIdTile' Type='http://schemas.openxmlformats.org/officeDocument/2006/relationships/image' Target='../media/sweep-tile.png'/><Relationship Id='rIdMark' Type='http://schemas.openxmlformats.org/officeDocument/2006/relationships/image' Target='../media/sweep-mark.svg'/></Relationships>
</file>

<file path=ppt/slides/_rels/slide8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Swatch' Type='http://schemas.openxmlformats.org/officeDocument/2006/relationships/image' Target='../media/sweep-swatch.png'/><Relationship Id='rIdBullet' Type='http://schemas.openxmlformats.org/officeDocument/2006/relationships/image' Target='../media/sweep-bullet.png'/><Relationship Id='rIdTile' Type='http://schemas.openxmlformats.org/officeDocument/2006/relationships/image' Target='../media/sweep-tile.png'/><Relationship Id='rIdMark' Type='http://schemas.openxmlformats.org/officeDocument/2006/relationships/image' Target='../media/sweep-mark.svg'/></Relationships>
</file>

<file path=ppt/slides/_rels/slide9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Swatch' Type='http://schemas.openxmlformats.org/officeDocument/2006/relationships/image' Target='../media/sweep-swatch.png'/><Relationship Id='rIdBullet' Type='http://schemas.openxmlformats.org/officeDocument/2006/relationships/image' Target='../media/sweep-bullet.png'/><Relationship Id='rIdTile' Type='http://schemas.openxmlformats.org/officeDocument/2006/relationships/image' Target='../media/sweep-tile.png'/><Relationship Id='rIdMark' Type='http://schemas.openxmlformats.org/officeDocument/2006/relationships/image' Target='../media/sweep-mark.svg'/></Relationships>
</file>

<file path=ppt/slides/_rels/slide10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Swatch' Type='http://schemas.openxmlformats.org/officeDocument/2006/relationships/image' Target='../media/sweep-swatch.png'/><Relationship Id='rIdBullet' Type='http://schemas.openxmlformats.org/officeDocument/2006/relationships/image' Target='../media/sweep-bullet.png'/><Relationship Id='rIdTile' Type='http://schemas.openxmlformats.org/officeDocument/2006/relationships/image' Target='../media/sweep-tile.png'/><Relationship Id='rIdMark' Type='http://schemas.openxmlformats.org/officeDocument/2006/relationships/image' Target='../media/sweep-mark.svg'/></Relationships>
</file>

<file path=ppt/slides/_rels/slide11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Swatch' Type='http://schemas.openxmlformats.org/officeDocument/2006/relationships/image' Target='../media/sweep-swatch.png'/><Relationship Id='rIdBullet' Type='http://schemas.openxmlformats.org/officeDocument/2006/relationships/image' Target='../media/sweep-bullet.png'/><Relationship Id='rIdTile' Type='http://schemas.openxmlformats.org/officeDocument/2006/relationships/image' Target='../media/sweep-tile.png'/><Relationship Id='rIdMark' Type='http://schemas.openxmlformats.org/officeDocument/2006/relationships/image' Target='../media/sweep-mark.svg'/></Relationships>
</file>

<file path=ppt/slides/_rels/slide12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Swatch' Type='http://schemas.openxmlformats.org/officeDocument/2006/relationships/image' Target='../media/sweep-swatch.png'/><Relationship Id='rIdBullet' Type='http://schemas.openxmlformats.org/officeDocument/2006/relationships/image' Target='../media/sweep-bullet.png'/><Relationship Id='rIdTile' Type='http://schemas.openxmlformats.org/officeDocument/2006/relationships/image' Target='../media/sweep-tile.png'/><Relationship Id='rIdMark' Type='http://schemas.openxmlformats.org/officeDocument/2006/relationships/image' Target='../media/sweep-mark.svg'/></Relationships>
</file>

<file path=ppt/slides/_rels/slide13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Swatch' Type='http://schemas.openxmlformats.org/officeDocument/2006/relationships/image' Target='../media/sweep-swatch.png'/><Relationship Id='rIdBullet' Type='http://schemas.openxmlformats.org/officeDocument/2006/relationships/image' Target='../media/sweep-bullet.png'/><Relationship Id='rIdTile' Type='http://schemas.openxmlformats.org/officeDocument/2006/relationships/image' Target='../media/sweep-tile.png'/><Relationship Id='rIdMark' Type='http://schemas.openxmlformats.org/officeDocument/2006/relationships/image' Target='../media/sweep-mark.svg'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svg="http://schemas.microsoft.com/office/drawing/2016/SVG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0F172A"/>
                </a:solidFill>
              </a:rPr>
              <a:t>1  a:clrChange - one exact colour replaced throughout a picture</a:t>
            </a:r>
            <a:endParaRPr lang="en-US" sz="1100"/>
          </a:p>
        </p:txBody>
      </p:sp>
      <p:pic>
        <p:nvPicPr>
          <p:cNvPr id="200" name="Untouched"/>
          <p:cNvPicPr/>
          <p:nvPr/>
        </p:nvPicPr>
        <p:blipFill>
          <a:blip r:embed="rIdSwatch"/>
          <a:stretch>
            <a:fillRect/>
          </a:stretch>
        </p:blipFill>
        <p:spPr>
          <a:xfrm>
            <a:off x="457200" y="660400"/>
            <a:ext cx="3251200" cy="812800"/>
          </a:xfrm>
          <a:prstGeom prst="rect">
            <a:avLst/>
          </a:prstGeom>
        </p:spPr>
      </p:pic>
      <p:sp>
        <p:nvSpPr>
          <p:cNvPr id="201" name="Label"/>
          <p:cNvSpPr txBox="1"/>
          <p:nvPr/>
        </p:nvSpPr>
        <p:spPr>
          <a:xfrm>
            <a:off x="457200" y="1549400"/>
            <a:ext cx="3251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as authored</a:t>
            </a:r>
            <a:endParaRPr lang="en-US" sz="900"/>
          </a:p>
        </p:txBody>
      </p:sp>
      <p:pic>
        <p:nvPicPr>
          <p:cNvPr id="202" name="Recoloured"/>
          <p:cNvPicPr/>
          <p:nvPr/>
        </p:nvPicPr>
        <p:blipFill>
          <a:blip r:embed="rIdSwatch">
            <a:clrChange>
              <a:clrFrom>
                <a:srgbClr val="E03C31"/>
              </a:clrFrom>
              <a:clrTo>
                <a:srgbClr val="6A1B9A"/>
              </a:clrTo>
            </a:clrChange>
          </a:blip>
          <a:stretch>
            <a:fillRect/>
          </a:stretch>
        </p:blipFill>
        <p:spPr>
          <a:xfrm>
            <a:off x="4521200" y="660400"/>
            <a:ext cx="3251200" cy="812800"/>
          </a:xfrm>
          <a:prstGeom prst="rect">
            <a:avLst/>
          </a:prstGeom>
        </p:spPr>
      </p:pic>
      <p:sp>
        <p:nvSpPr>
          <p:cNvPr id="203" name="Label"/>
          <p:cNvSpPr txBox="1"/>
          <p:nvPr/>
        </p:nvSpPr>
        <p:spPr>
          <a:xfrm>
            <a:off x="4521200" y="1549400"/>
            <a:ext cx="3251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a:clrChange  #E03C31 -&gt; #6A1B9A</a:t>
            </a:r>
            <a:endParaRPr lang="en-US" sz="900"/>
          </a:p>
        </p:txBody>
      </p:sp>
      <p:sp>
        <p:nvSpPr>
          <p:cNvPr id="204" name="Label"/>
          <p:cNvSpPr txBox="1"/>
          <p:nvPr/>
        </p:nvSpPr>
        <p:spPr>
          <a:xfrm>
            <a:off x="457200" y="21844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Only the first block changes: a:clrChange matches exactly, so the other three and the white keyline are untouched.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svg="http://schemas.microsoft.com/office/drawing/2016/SVG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0F172A"/>
                </a:solidFill>
              </a:rPr>
              <a:t>2  asvg:svgBlip - the vector a picture was rasterised from</a:t>
            </a:r>
            <a:endParaRPr lang="en-US" sz="1100"/>
          </a:p>
        </p:txBody>
      </p:sp>
      <p:pic>
        <p:nvPicPr>
          <p:cNvPr id="205" name="Raster only"/>
          <p:cNvPicPr/>
          <p:nvPr/>
        </p:nvPicPr>
        <p:blipFill>
          <a:blip r:embed="rIdSwatch"/>
          <a:stretch>
            <a:fillRect/>
          </a:stretch>
        </p:blipFill>
        <p:spPr>
          <a:xfrm>
            <a:off x="457200" y="660400"/>
            <a:ext cx="3048000" cy="762000"/>
          </a:xfrm>
          <a:prstGeom prst="rect">
            <a:avLst/>
          </a:prstGeom>
        </p:spPr>
      </p:pic>
      <p:sp>
        <p:nvSpPr>
          <p:cNvPr id="206" name="Label"/>
          <p:cNvSpPr txBox="1"/>
          <p:nvPr/>
        </p:nvSpPr>
        <p:spPr>
          <a:xfrm>
            <a:off x="457200" y="152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a:blip alone -- the PNG is drawn</a:t>
            </a:r>
            <a:endParaRPr lang="en-US" sz="900"/>
          </a:p>
        </p:txBody>
      </p:sp>
      <p:pic>
        <p:nvPicPr>
          <p:cNvPr id="207" name="Vector preferred"/>
          <p:cNvPicPr/>
          <p:nvPr/>
        </p:nvPicPr>
        <p:blipFill>
          <a:blip r:embed="rIdSwatch">
            <a:extLst>
              <a:ext uri="{96DAC541-7B7A-43D3-8B79-37D633B846F1}">
                <asvg:svgBlip r:embed="rIdMark"/>
              </a:ext>
            </a:extLst>
          </a:blip>
          <a:stretch>
            <a:fillRect/>
          </a:stretch>
        </p:blipFill>
        <p:spPr>
          <a:xfrm>
            <a:off x="457200" y="1930400"/>
            <a:ext cx="3048000" cy="762000"/>
          </a:xfrm>
          <a:prstGeom prst="rect">
            <a:avLst/>
          </a:prstGeom>
        </p:spPr>
      </p:pic>
      <p:sp>
        <p:nvSpPr>
          <p:cNvPr id="208" name="Label"/>
          <p:cNvSpPr txBox="1"/>
          <p:nvPr/>
        </p:nvSpPr>
        <p:spPr>
          <a:xfrm>
            <a:off x="457200" y="27940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same a:blip plus an asvg:svgBlip extension -- the SVG is drawn</a:t>
            </a:r>
            <a:endParaRPr lang="en-US" sz="900"/>
          </a:p>
        </p:txBody>
      </p:sp>
      <p:sp>
        <p:nvSpPr>
          <p:cNvPr id="209" name="Label"/>
          <p:cNvSpPr txBox="1"/>
          <p:nvPr/>
        </p:nvSpPr>
        <p:spPr>
          <a:xfrm>
            <a:off x="457200" y="33274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Both draw the same artwork, deliberately: PowerPoint's own PDF export rasterises from the PNG on both, so a vector drawn differently would score as a defect for ever with none behind it. Which source we used is pinned by the VRT snapshot, which holds data:image/svg+xml here.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svg="http://schemas.microsoft.com/office/drawing/2016/SVG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0F172A"/>
                </a:solidFill>
              </a:rPr>
              <a:t>3  mc:AlternateContent - a Choice we can draw beats the Fallback</a:t>
            </a:r>
            <a:endParaRPr lang="en-US" sz="1100"/>
          </a:p>
        </p:txBody>
      </p:sp>
      <p:pic>
        <p:nvPicPr>
          <p:cNvPr id="212" name="Reference"/>
          <p:cNvPicPr/>
          <p:nvPr/>
        </p:nvPicPr>
        <p:blipFill>
          <a:blip r:embed="rIdSwatch"/>
          <a:stretch>
            <a:fillRect/>
          </a:stretch>
        </p:blipFill>
        <p:spPr>
          <a:xfrm>
            <a:off x="457200" y="660400"/>
            <a:ext cx="3048000" cy="762000"/>
          </a:xfrm>
          <a:prstGeom prst="rect">
            <a:avLst/>
          </a:prstGeom>
        </p:spPr>
      </p:pic>
      <p:sp>
        <p:nvSpPr>
          <p:cNvPr id="213" name="Label"/>
          <p:cNvSpPr txBox="1"/>
          <p:nvPr/>
        </p:nvSpPr>
        <p:spPr>
          <a:xfrm>
            <a:off x="457200" y="15240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a plain p:pic, in no branch at all</a:t>
            </a:r>
            <a:endParaRPr lang="en-US" sz="900"/>
          </a:p>
        </p:txBody>
      </p:sp>
      <mc:AlternateContent>
        <mc:Choice Requires="asvg">
          <p:pic>
            <p:nvPicPr>
              <p:cNvPr id="210" name="Choice vector"/>
              <p:cNvPicPr/>
              <p:nvPr/>
            </p:nvPicPr>
            <p:blipFill>
              <a:blip r:embed="rIdSwatch">
                <a:extLst>
                  <a:ext uri="{96DAC541-7B7A-43D3-8B79-37D633B846F1}">
                    <asvg:svgBlip r:embed="rIdMark"/>
                  </a:ext>
                </a:extLst>
              </a:blip>
              <a:stretch>
                <a:fillRect/>
              </a:stretch>
            </p:blipFill>
            <p:spPr>
              <a:xfrm>
                <a:off x="457200" y="1930400"/>
                <a:ext cx="3048000" cy="762000"/>
              </a:xfrm>
              <a:prstGeom prst="rect">
                <a:avLst/>
              </a:prstGeom>
            </p:spPr>
          </p:pic>
        </mc:Choice>
        <mc:Fallback>
          <p:pic>
            <p:nvPicPr>
              <p:cNvPr id="211" name="Fallback raster"/>
              <p:cNvPicPr/>
              <p:nvPr/>
            </p:nvPicPr>
            <p:blipFill>
              <a:blip r:embed="rIdSwatch"/>
              <a:stretch>
                <a:fillRect/>
              </a:stretch>
            </p:blipFill>
            <p:spPr>
              <a:xfrm>
                <a:off x="457200" y="1930400"/>
                <a:ext cx="3048000" cy="762000"/>
              </a:xfrm>
              <a:prstGeom prst="rect">
                <a:avLst/>
              </a:prstGeom>
            </p:spPr>
          </p:pic>
        </mc:Fallback>
      </mc:AlternateContent>
      <p:sp>
        <p:nvSpPr>
          <p:cNvPr id="214" name="Label"/>
          <p:cNvSpPr txBox="1"/>
          <p:nvPr/>
        </p:nvSpPr>
        <p:spPr>
          <a:xfrm>
            <a:off x="457200" y="27940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mc:Choice (carries the vector) beside mc:Fallback (raster only)</a:t>
            </a:r>
            <a:endParaRPr lang="en-US" sz="900"/>
          </a:p>
        </p:txBody>
      </p:sp>
      <p:sp>
        <p:nvSpPr>
          <p:cNvPr id="215" name="Label"/>
          <p:cNvSpPr txBox="1"/>
          <p:nvPr/>
        </p:nvSpPr>
        <p:spPr>
          <a:xfrm>
            <a:off x="457200" y="33274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Same artwork on both, for the reason slide 2 gives. The Choice is taken: the snapshot's second picture is data:image/svg+xml, where taking the Fallback unconditionally -- which this used to do -- gave a PNG.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svg="http://schemas.microsoft.com/office/drawing/2016/SVG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0F172A"/>
                </a:solidFill>
              </a:rPr>
              <a:t>4  a:buBlip - picture bullets</a:t>
            </a:r>
            <a:endParaRPr lang="en-US" sz="1100"/>
          </a:p>
        </p:txBody>
      </p:sp>
      <p:sp>
        <p:nvSpPr>
          <p:cNvPr id="216" name="Picture bullets"/>
          <p:cNvSpPr txBox="1"/>
          <p:nvPr/>
        </p:nvSpPr>
        <p:spPr>
          <a:xfrm>
            <a:off x="457200" y="660400"/>
            <a:ext cx="5080000" cy="1524000"/>
          </a:xfrm>
          <a:prstGeom prst="rect">
            <a:avLst/>
          </a:prstGeom>
          <a:noFill/>
        </p:spPr>
        <p:txBody>
          <a:bodyPr/>
          <a:lstStyle/>
          <a:p>
            <a:pPr marL="457200" indent="-457200">
              <a:buBlip>
                <a:blip r:embed="rIdBullet"/>
              </a:buBlip>
            </a:pPr>
            <a:r>
              <a:rPr lang="en-US" sz="1600"/>
              <a:t>Picture bullets come from a:buBlip</a:t>
            </a:r>
          </a:p>
          <a:p>
            <a:pPr marL="457200" indent="-457200">
              <a:buBlip>
                <a:blip r:embed="rIdBullet"/>
              </a:buBlip>
            </a:pPr>
            <a:r>
              <a:rPr lang="en-US" sz="1600"/>
              <a:t>They are not a character in any face</a:t>
            </a:r>
          </a:p>
          <a:p>
            <a:pPr marL="457200" indent="-457200">
              <a:buBlip>
                <a:blip r:embed="rIdBullet"/>
              </a:buBlip>
            </a:pPr>
            <a:r>
              <a:rPr lang="en-US" sz="1600"/>
              <a:t>So they cannot be a tspan the way buChar is</a:t>
            </a:r>
          </a:p>
        </p:txBody>
      </p:sp>
      <p:sp>
        <p:nvSpPr>
          <p:cNvPr id="217" name="Label"/>
          <p:cNvSpPr txBox="1"/>
          <p:nvPr/>
        </p:nvSpPr>
        <p:spPr>
          <a:xfrm>
            <a:off x="457200" y="23114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a:buBlip -- a 32 px diamond with real alpha, drawn as &lt;image&gt; beside the &lt;text&gt; because &lt;image&gt; is not a text content element.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svg="http://schemas.microsoft.com/office/drawing/2016/SVG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0F172A"/>
                </a:solidFill>
              </a:rPr>
              <a:t>5  a:buSzPts - a bullet sized in points rather than in percent</a:t>
            </a:r>
            <a:endParaRPr lang="en-US" sz="1100"/>
          </a:p>
        </p:txBody>
      </p:sp>
      <p:sp>
        <p:nvSpPr>
          <p:cNvPr id="218" name="Bullet sizes"/>
          <p:cNvSpPr txBox="1"/>
          <p:nvPr/>
        </p:nvSpPr>
        <p:spPr>
          <a:xfrm>
            <a:off x="457200" y="660400"/>
            <a:ext cx="7874000" cy="2286000"/>
          </a:xfrm>
          <a:prstGeom prst="rect">
            <a:avLst/>
          </a:prstGeom>
          <a:noFill/>
        </p:spPr>
        <p:txBody>
          <a:bodyPr/>
          <a:lstStyle/>
          <a:p>
            <a:pPr marL="457200" indent="-457200">
              <a:buChar char="•"/>
            </a:pPr>
            <a:r>
              <a:rPr lang="en-US" sz="3200"/>
              <a:t>no size given: the bullet takes the run's 32 pt</a:t>
            </a:r>
          </a:p>
          <a:p>
            <a:pPr marL="457200" indent="-457200">
              <a:buSzPct val="50000"/>
              <a:buChar char="•"/>
            </a:pPr>
            <a:r>
              <a:rPr lang="en-US" sz="3200"/>
              <a:t>a:buSzPct 50%: half the run</a:t>
            </a:r>
          </a:p>
          <a:p>
            <a:pPr marL="457200" indent="-457200">
              <a:buSzPts val="1000"/>
              <a:buChar char="•"/>
            </a:pPr>
            <a:r>
              <a:rPr lang="en-US" sz="3200"/>
              <a:t>a:buSzPts 10 pt: absolute</a:t>
            </a:r>
          </a:p>
        </p:txBody>
      </p:sp>
      <p:sp>
        <p:nvSpPr>
          <p:cNvPr id="219" name="Label"/>
          <p:cNvSpPr txBox="1"/>
          <p:nvPr/>
        </p:nvSpPr>
        <p:spPr>
          <a:xfrm>
            <a:off x="457200" y="32004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Only a:buSzPct was read, so every a:buSzPts bullet silently took the run's size. Decks usually author the two equal, which is why the gap never showed.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svg="http://schemas.microsoft.com/office/drawing/2016/SVG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0F172A"/>
                </a:solidFill>
              </a:rPr>
              <a:t>6  a:alphaModFix - picture opacity</a:t>
            </a:r>
            <a:endParaRPr lang="en-US" sz="1100"/>
          </a:p>
        </p:txBody>
      </p:sp>
      <p:sp>
        <p:nvSpPr>
          <p:cNvPr id="220" name="Backdrop"/>
          <p:cNvSpPr/>
          <p:nvPr/>
        </p:nvSpPr>
        <p:spPr>
          <a:xfrm>
            <a:off x="355600" y="558800"/>
            <a:ext cx="7620000" cy="1219200"/>
          </a:xfrm>
          <a:prstGeom prst="rect">
            <a:avLst/>
          </a:prstGeom>
          <a:solidFill>
            <a:srgbClr val="0F172A"/>
          </a:solidFill>
        </p:spPr>
        <p:txBody>
          <a:bodyPr/>
          <a:lstStyle/>
          <a:p/>
        </p:txBody>
      </p:sp>
      <p:pic>
        <p:nvPicPr>
          <p:cNvPr id="221" name="Opaque"/>
          <p:cNvPicPr/>
          <p:nvPr/>
        </p:nvPicPr>
        <p:blipFill>
          <a:blip r:embed="rIdSwatch"/>
          <a:stretch>
            <a:fillRect/>
          </a:stretch>
        </p:blipFill>
        <p:spPr>
          <a:xfrm>
            <a:off x="457200" y="660400"/>
            <a:ext cx="2235200" cy="558800"/>
          </a:xfrm>
          <a:prstGeom prst="rect">
            <a:avLst/>
          </a:prstGeom>
        </p:spPr>
      </p:pic>
      <p:pic>
        <p:nvPicPr>
          <p:cNvPr id="222" name="Half"/>
          <p:cNvPicPr/>
          <p:nvPr/>
        </p:nvPicPr>
        <p:blipFill>
          <a:blip r:embed="rIdSwatch">
            <a:alphaModFix amt="50000"/>
          </a:blip>
          <a:stretch>
            <a:fillRect/>
          </a:stretch>
        </p:blipFill>
        <p:spPr>
          <a:xfrm>
            <a:off x="2997200" y="660400"/>
            <a:ext cx="2235200" cy="558800"/>
          </a:xfrm>
          <a:prstGeom prst="rect">
            <a:avLst/>
          </a:prstGeom>
        </p:spPr>
      </p:pic>
      <p:pic>
        <p:nvPicPr>
          <p:cNvPr id="223" name="Faint"/>
          <p:cNvPicPr/>
          <p:nvPr/>
        </p:nvPicPr>
        <p:blipFill>
          <a:blip r:embed="rIdSwatch">
            <a:alphaModFix amt="20000"/>
          </a:blip>
          <a:stretch>
            <a:fillRect/>
          </a:stretch>
        </p:blipFill>
        <p:spPr>
          <a:xfrm>
            <a:off x="5537200" y="660400"/>
            <a:ext cx="2235200" cy="558800"/>
          </a:xfrm>
          <a:prstGeom prst="rect">
            <a:avLst/>
          </a:prstGeom>
        </p:spPr>
      </p:pic>
      <p:sp>
        <p:nvSpPr>
          <p:cNvPr id="224" name="Label"/>
          <p:cNvSpPr txBox="1"/>
          <p:nvPr/>
        </p:nvSpPr>
        <p:spPr>
          <a:xfrm>
            <a:off x="457200" y="1320800"/>
            <a:ext cx="2235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100%</a:t>
            </a:r>
            <a:endParaRPr lang="en-US" sz="900"/>
          </a:p>
        </p:txBody>
      </p:sp>
      <p:sp>
        <p:nvSpPr>
          <p:cNvPr id="225" name="Label"/>
          <p:cNvSpPr txBox="1"/>
          <p:nvPr/>
        </p:nvSpPr>
        <p:spPr>
          <a:xfrm>
            <a:off x="2997200" y="1320800"/>
            <a:ext cx="2235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a:alphaModFix 50%</a:t>
            </a:r>
            <a:endParaRPr lang="en-US" sz="900"/>
          </a:p>
        </p:txBody>
      </p:sp>
      <p:sp>
        <p:nvSpPr>
          <p:cNvPr id="226" name="Label"/>
          <p:cNvSpPr txBox="1"/>
          <p:nvPr/>
        </p:nvSpPr>
        <p:spPr>
          <a:xfrm>
            <a:off x="5537200" y="1320800"/>
            <a:ext cx="2235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a:alphaModFix 20%</a:t>
            </a:r>
            <a:endParaRPr lang="en-US" sz="900"/>
          </a:p>
        </p:txBody>
      </p:sp>
      <p:sp>
        <p:nvSpPr>
          <p:cNvPr id="227" name="Label"/>
          <p:cNvSpPr txBox="1"/>
          <p:nvPr/>
        </p:nvSpPr>
        <p:spPr>
          <a:xfrm>
            <a:off x="457200" y="21844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A bare &lt;a:alphaModFix/&gt; means 100% and is dropped rather than emitting a no-op filter -- Google Slides writes one on every exported picture.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svg="http://schemas.microsoft.com/office/drawing/2016/SVG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0F172A"/>
                </a:solidFill>
              </a:rPr>
              <a:t>7  a:ln@cmpd - compound lines (NOT RENDERED; warns)</a:t>
            </a:r>
            <a:endParaRPr lang="en-US" sz="1100"/>
          </a:p>
        </p:txBody>
      </p:sp>
      <p:sp>
        <p:nvSpPr>
          <p:cNvPr id="228" name="cmpd sng"/>
          <p:cNvSpPr/>
          <p:nvPr/>
        </p:nvSpPr>
        <p:spPr>
          <a:xfrm>
            <a:off x="457200" y="660400"/>
            <a:ext cx="1371600" cy="914400"/>
          </a:xfrm>
          <a:prstGeom prst="rect">
            <a:avLst/>
          </a:prstGeom>
          <a:solidFill>
            <a:srgbClr val="F8FAFC"/>
          </a:solidFill>
          <a:ln w="76200" cmpd="sng">
            <a:solidFill>
              <a:srgbClr val="1F4E79"/>
            </a:solidFill>
          </a:ln>
        </p:spPr>
        <p:txBody>
          <a:bodyPr/>
          <a:lstStyle/>
          <a:p/>
        </p:txBody>
      </p:sp>
      <p:sp>
        <p:nvSpPr>
          <p:cNvPr id="229" name="Label"/>
          <p:cNvSpPr txBox="1"/>
          <p:nvPr/>
        </p:nvSpPr>
        <p:spPr>
          <a:xfrm>
            <a:off x="457200" y="1676400"/>
            <a:ext cx="1371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cmpd='sng'</a:t>
            </a:r>
            <a:endParaRPr lang="en-US" sz="900"/>
          </a:p>
        </p:txBody>
      </p:sp>
      <p:sp>
        <p:nvSpPr>
          <p:cNvPr id="230" name="cmpd dbl"/>
          <p:cNvSpPr/>
          <p:nvPr/>
        </p:nvSpPr>
        <p:spPr>
          <a:xfrm>
            <a:off x="2032000" y="660400"/>
            <a:ext cx="1371600" cy="914400"/>
          </a:xfrm>
          <a:prstGeom prst="rect">
            <a:avLst/>
          </a:prstGeom>
          <a:solidFill>
            <a:srgbClr val="F8FAFC"/>
          </a:solidFill>
          <a:ln w="76200" cmpd="dbl">
            <a:solidFill>
              <a:srgbClr val="1F4E79"/>
            </a:solidFill>
          </a:ln>
        </p:spPr>
        <p:txBody>
          <a:bodyPr/>
          <a:lstStyle/>
          <a:p/>
        </p:txBody>
      </p:sp>
      <p:sp>
        <p:nvSpPr>
          <p:cNvPr id="231" name="Label"/>
          <p:cNvSpPr txBox="1"/>
          <p:nvPr/>
        </p:nvSpPr>
        <p:spPr>
          <a:xfrm>
            <a:off x="2032000" y="1676400"/>
            <a:ext cx="1371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cmpd='dbl'</a:t>
            </a:r>
            <a:endParaRPr lang="en-US" sz="900"/>
          </a:p>
        </p:txBody>
      </p:sp>
      <p:sp>
        <p:nvSpPr>
          <p:cNvPr id="232" name="cmpd thickThin"/>
          <p:cNvSpPr/>
          <p:nvPr/>
        </p:nvSpPr>
        <p:spPr>
          <a:xfrm>
            <a:off x="3606800" y="660400"/>
            <a:ext cx="1371600" cy="914400"/>
          </a:xfrm>
          <a:prstGeom prst="rect">
            <a:avLst/>
          </a:prstGeom>
          <a:solidFill>
            <a:srgbClr val="F8FAFC"/>
          </a:solidFill>
          <a:ln w="76200" cmpd="thickThin">
            <a:solidFill>
              <a:srgbClr val="1F4E79"/>
            </a:solidFill>
          </a:ln>
        </p:spPr>
        <p:txBody>
          <a:bodyPr/>
          <a:lstStyle/>
          <a:p/>
        </p:txBody>
      </p:sp>
      <p:sp>
        <p:nvSpPr>
          <p:cNvPr id="233" name="Label"/>
          <p:cNvSpPr txBox="1"/>
          <p:nvPr/>
        </p:nvSpPr>
        <p:spPr>
          <a:xfrm>
            <a:off x="3606800" y="1676400"/>
            <a:ext cx="1371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cmpd='thickThin'</a:t>
            </a:r>
            <a:endParaRPr lang="en-US" sz="900"/>
          </a:p>
        </p:txBody>
      </p:sp>
      <p:sp>
        <p:nvSpPr>
          <p:cNvPr id="234" name="cmpd thinThick"/>
          <p:cNvSpPr/>
          <p:nvPr/>
        </p:nvSpPr>
        <p:spPr>
          <a:xfrm>
            <a:off x="5181600" y="660400"/>
            <a:ext cx="1371600" cy="914400"/>
          </a:xfrm>
          <a:prstGeom prst="rect">
            <a:avLst/>
          </a:prstGeom>
          <a:solidFill>
            <a:srgbClr val="F8FAFC"/>
          </a:solidFill>
          <a:ln w="76200" cmpd="thinThick">
            <a:solidFill>
              <a:srgbClr val="1F4E79"/>
            </a:solidFill>
          </a:ln>
        </p:spPr>
        <p:txBody>
          <a:bodyPr/>
          <a:lstStyle/>
          <a:p/>
        </p:txBody>
      </p:sp>
      <p:sp>
        <p:nvSpPr>
          <p:cNvPr id="235" name="Label"/>
          <p:cNvSpPr txBox="1"/>
          <p:nvPr/>
        </p:nvSpPr>
        <p:spPr>
          <a:xfrm>
            <a:off x="5181600" y="1676400"/>
            <a:ext cx="1371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cmpd='thinThick'</a:t>
            </a:r>
            <a:endParaRPr lang="en-US" sz="900"/>
          </a:p>
        </p:txBody>
      </p:sp>
      <p:sp>
        <p:nvSpPr>
          <p:cNvPr id="236" name="cmpd tri"/>
          <p:cNvSpPr/>
          <p:nvPr/>
        </p:nvSpPr>
        <p:spPr>
          <a:xfrm>
            <a:off x="6756400" y="660400"/>
            <a:ext cx="1371600" cy="914400"/>
          </a:xfrm>
          <a:prstGeom prst="rect">
            <a:avLst/>
          </a:prstGeom>
          <a:solidFill>
            <a:srgbClr val="F8FAFC"/>
          </a:solidFill>
          <a:ln w="76200" cmpd="tri">
            <a:solidFill>
              <a:srgbClr val="1F4E79"/>
            </a:solidFill>
          </a:ln>
        </p:spPr>
        <p:txBody>
          <a:bodyPr/>
          <a:lstStyle/>
          <a:p/>
        </p:txBody>
      </p:sp>
      <p:sp>
        <p:nvSpPr>
          <p:cNvPr id="237" name="Label"/>
          <p:cNvSpPr txBox="1"/>
          <p:nvPr/>
        </p:nvSpPr>
        <p:spPr>
          <a:xfrm>
            <a:off x="6756400" y="1676400"/>
            <a:ext cx="1371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cmpd='tri'</a:t>
            </a:r>
            <a:endParaRPr lang="en-US" sz="900"/>
          </a:p>
        </p:txBody>
      </p:sp>
      <p:sp>
        <p:nvSpPr>
          <p:cNvPr id="238" name="Label"/>
          <p:cNvSpPr txBox="1"/>
          <p:nvPr/>
        </p:nvSpPr>
        <p:spPr>
          <a:xfrm>
            <a:off x="457200" y="21844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NOT RENDERED. All five are drawn as one 6 pt stroke: right colour, right weight, right place, missing split. Warns line-compound-flattened.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svg="http://schemas.microsoft.com/office/drawing/2016/SVG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0F172A"/>
                </a:solidFill>
              </a:rPr>
              <a:t>8  a:lnL/R/T/B@cmpd - compound cell borders (NOT RENDERED; warns once)</a:t>
            </a:r>
            <a:endParaRPr lang="en-US" sz="1100"/>
          </a:p>
        </p:txBody>
      </p:sp>
      <p:graphicFrame>
        <p:nvGraphicFramePr>
          <p:cNvPr id="239" name="Compound table"/>
          <p:cNvGraphicFramePr/>
          <p:nvPr/>
        </p:nvGraphicFramePr>
        <p:xfrm>
          <a:off x="457200" y="660400"/>
          <a:ext cx="6096000" cy="1371600"/>
        </p:xfrm>
        <a:graphic>
          <a:graphicData uri="http://schemas.openxmlformats.org/drawingml/2006/table">
            <a:tbl>
              <a:tblPr firstRow="0" bandRow="0"/>
              <a:tblGrid>
                <a:gridCol w="2032000"/>
                <a:gridCol w="2032000"/>
                <a:gridCol w="20320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Region</a:t>
                      </a:r>
                    </a:p>
                  </a:txBody>
                  <a:tcPr marL="45720" marR="45720" marT="45720" marB="45720">
                    <a:lnL w="38100" cmpd="dbl">
                      <a:solidFill>
                        <a:srgbClr val="1F4E79"/>
                      </a:solidFill>
                    </a:lnL>
                    <a:lnR w="38100" cmpd="dbl">
                      <a:solidFill>
                        <a:srgbClr val="1F4E79"/>
                      </a:solidFill>
                    </a:lnR>
                    <a:lnT w="38100" cmpd="dbl">
                      <a:solidFill>
                        <a:srgbClr val="1F4E79"/>
                      </a:solidFill>
                    </a:lnT>
                    <a:lnB w="38100" cmpd="dbl">
                      <a:solidFill>
                        <a:srgbClr val="1F4E7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Q1</a:t>
                      </a:r>
                    </a:p>
                  </a:txBody>
                  <a:tcPr marL="45720" marR="45720" marT="45720" marB="45720">
                    <a:lnL w="38100" cmpd="dbl">
                      <a:solidFill>
                        <a:srgbClr val="1F4E79"/>
                      </a:solidFill>
                    </a:lnL>
                    <a:lnR w="38100" cmpd="dbl">
                      <a:solidFill>
                        <a:srgbClr val="1F4E79"/>
                      </a:solidFill>
                    </a:lnR>
                    <a:lnT w="38100" cmpd="dbl">
                      <a:solidFill>
                        <a:srgbClr val="1F4E79"/>
                      </a:solidFill>
                    </a:lnT>
                    <a:lnB w="38100" cmpd="dbl">
                      <a:solidFill>
                        <a:srgbClr val="1F4E7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Q2</a:t>
                      </a:r>
                    </a:p>
                  </a:txBody>
                  <a:tcPr marL="45720" marR="45720" marT="45720" marB="45720">
                    <a:lnL w="38100" cmpd="dbl">
                      <a:solidFill>
                        <a:srgbClr val="1F4E79"/>
                      </a:solidFill>
                    </a:lnL>
                    <a:lnR w="38100" cmpd="dbl">
                      <a:solidFill>
                        <a:srgbClr val="1F4E79"/>
                      </a:solidFill>
                    </a:lnR>
                    <a:lnT w="38100" cmpd="dbl">
                      <a:solidFill>
                        <a:srgbClr val="1F4E79"/>
                      </a:solidFill>
                    </a:lnT>
                    <a:lnB w="38100" cmpd="dbl">
                      <a:solidFill>
                        <a:srgbClr val="1F4E7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North</a:t>
                      </a:r>
                    </a:p>
                  </a:txBody>
                  <a:tcPr marL="45720" marR="45720" marT="45720" marB="45720">
                    <a:lnL w="38100" cmpd="dbl">
                      <a:solidFill>
                        <a:srgbClr val="1F4E79"/>
                      </a:solidFill>
                    </a:lnL>
                    <a:lnR w="38100" cmpd="dbl">
                      <a:solidFill>
                        <a:srgbClr val="1F4E79"/>
                      </a:solidFill>
                    </a:lnR>
                    <a:lnT w="38100" cmpd="dbl">
                      <a:solidFill>
                        <a:srgbClr val="1F4E79"/>
                      </a:solidFill>
                    </a:lnT>
                    <a:lnB w="38100" cmpd="dbl">
                      <a:solidFill>
                        <a:srgbClr val="1F4E7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184</a:t>
                      </a:r>
                    </a:p>
                  </a:txBody>
                  <a:tcPr marL="45720" marR="45720" marT="45720" marB="45720">
                    <a:lnL w="38100" cmpd="dbl">
                      <a:solidFill>
                        <a:srgbClr val="1F4E79"/>
                      </a:solidFill>
                    </a:lnL>
                    <a:lnR w="38100" cmpd="dbl">
                      <a:solidFill>
                        <a:srgbClr val="1F4E79"/>
                      </a:solidFill>
                    </a:lnR>
                    <a:lnT w="38100" cmpd="dbl">
                      <a:solidFill>
                        <a:srgbClr val="1F4E79"/>
                      </a:solidFill>
                    </a:lnT>
                    <a:lnB w="38100" cmpd="dbl">
                      <a:solidFill>
                        <a:srgbClr val="1F4E7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211</a:t>
                      </a:r>
                    </a:p>
                  </a:txBody>
                  <a:tcPr marL="45720" marR="45720" marT="45720" marB="45720">
                    <a:lnL w="38100" cmpd="dbl">
                      <a:solidFill>
                        <a:srgbClr val="1F4E79"/>
                      </a:solidFill>
                    </a:lnL>
                    <a:lnR w="38100" cmpd="dbl">
                      <a:solidFill>
                        <a:srgbClr val="1F4E79"/>
                      </a:solidFill>
                    </a:lnR>
                    <a:lnT w="38100" cmpd="dbl">
                      <a:solidFill>
                        <a:srgbClr val="1F4E79"/>
                      </a:solidFill>
                    </a:lnT>
                    <a:lnB w="38100" cmpd="dbl">
                      <a:solidFill>
                        <a:srgbClr val="1F4E7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South</a:t>
                      </a:r>
                    </a:p>
                  </a:txBody>
                  <a:tcPr marL="45720" marR="45720" marT="45720" marB="45720">
                    <a:lnL w="38100" cmpd="dbl">
                      <a:solidFill>
                        <a:srgbClr val="1F4E79"/>
                      </a:solidFill>
                    </a:lnL>
                    <a:lnR w="38100" cmpd="dbl">
                      <a:solidFill>
                        <a:srgbClr val="1F4E79"/>
                      </a:solidFill>
                    </a:lnR>
                    <a:lnT w="38100" cmpd="dbl">
                      <a:solidFill>
                        <a:srgbClr val="1F4E79"/>
                      </a:solidFill>
                    </a:lnT>
                    <a:lnB w="38100" cmpd="dbl">
                      <a:solidFill>
                        <a:srgbClr val="1F4E7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142</a:t>
                      </a:r>
                    </a:p>
                  </a:txBody>
                  <a:tcPr marL="45720" marR="45720" marT="45720" marB="45720">
                    <a:lnL w="38100" cmpd="dbl">
                      <a:solidFill>
                        <a:srgbClr val="1F4E79"/>
                      </a:solidFill>
                    </a:lnL>
                    <a:lnR w="38100" cmpd="dbl">
                      <a:solidFill>
                        <a:srgbClr val="1F4E79"/>
                      </a:solidFill>
                    </a:lnR>
                    <a:lnT w="38100" cmpd="dbl">
                      <a:solidFill>
                        <a:srgbClr val="1F4E79"/>
                      </a:solidFill>
                    </a:lnT>
                    <a:lnB w="38100" cmpd="dbl">
                      <a:solidFill>
                        <a:srgbClr val="1F4E7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168</a:t>
                      </a:r>
                    </a:p>
                  </a:txBody>
                  <a:tcPr marL="45720" marR="45720" marT="45720" marB="45720">
                    <a:lnL w="38100" cmpd="dbl">
                      <a:solidFill>
                        <a:srgbClr val="1F4E79"/>
                      </a:solidFill>
                    </a:lnL>
                    <a:lnR w="38100" cmpd="dbl">
                      <a:solidFill>
                        <a:srgbClr val="1F4E79"/>
                      </a:solidFill>
                    </a:lnR>
                    <a:lnT w="38100" cmpd="dbl">
                      <a:solidFill>
                        <a:srgbClr val="1F4E79"/>
                      </a:solidFill>
                    </a:lnT>
                    <a:lnB w="38100" cmpd="dbl">
                      <a:solidFill>
                        <a:srgbClr val="1F4E7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0" name="Label"/>
          <p:cNvSpPr txBox="1"/>
          <p:nvPr/>
        </p:nvSpPr>
        <p:spPr>
          <a:xfrm>
            <a:off x="457200" y="23114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NOT RENDERED. Every cell border is cmpd='dbl'; all twelve are drawn as one 3 pt stroke, and line-compound-flattened fires once for the slide, not once per border.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svg="http://schemas.microsoft.com/office/drawing/2016/SVG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0F172A"/>
                </a:solidFill>
              </a:rPr>
              <a:t>9  a:path@path - circle, rect and shape (PARTLY RENDERED)</a:t>
            </a:r>
            <a:endParaRPr lang="en-US" sz="1100"/>
          </a:p>
        </p:txBody>
      </p:sp>
      <p:sp>
        <p:nvSpPr>
          <p:cNvPr id="241" name="lin ang=0"/>
          <p:cNvSpPr/>
          <p:nvPr/>
        </p:nvSpPr>
        <p:spPr>
          <a:xfrm>
            <a:off x="457200" y="660400"/>
            <a:ext cx="1727200" cy="1219200"/>
          </a:xfrm>
          <a:prstGeom prst="rect">
            <a:avLst/>
          </a:prstGeom>
          <a:gradFill>
            <a:gsLst>
              <a:gs pos="0">
                <a:srgbClr val="F9A825"/>
              </a:gs>
              <a:gs pos="100000">
                <a:srgbClr val="0F766E"/>
              </a:gs>
            </a:gsLst>
            <a:lin ang="0" scaled="0"/>
          </a:gradFill>
        </p:spPr>
        <p:txBody>
          <a:bodyPr/>
          <a:lstStyle/>
          <a:p/>
        </p:txBody>
      </p:sp>
      <p:sp>
        <p:nvSpPr>
          <p:cNvPr id="242" name="Label"/>
          <p:cNvSpPr txBox="1"/>
          <p:nvPr/>
        </p:nvSpPr>
        <p:spPr>
          <a:xfrm>
            <a:off x="457200" y="1981200"/>
            <a:ext cx="1727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lin ang=0</a:t>
            </a:r>
            <a:endParaRPr lang="en-US" sz="900"/>
          </a:p>
        </p:txBody>
      </p:sp>
      <p:sp>
        <p:nvSpPr>
          <p:cNvPr id="243" name="path=circle"/>
          <p:cNvSpPr/>
          <p:nvPr/>
        </p:nvSpPr>
        <p:spPr>
          <a:xfrm>
            <a:off x="2438400" y="660400"/>
            <a:ext cx="1727200" cy="1219200"/>
          </a:xfrm>
          <a:prstGeom prst="rect">
            <a:avLst/>
          </a:prstGeom>
          <a:gradFill>
            <a:gsLst>
              <a:gs pos="0">
                <a:srgbClr val="F9A825"/>
              </a:gs>
              <a:gs pos="100000">
                <a:srgbClr val="0F766E"/>
              </a:gs>
            </a:gsLst>
            <a:path path="circle">
              <a:fillToRect l="50000" t="50000" r="50000" b="50000"/>
            </a:path>
          </a:gradFill>
        </p:spPr>
        <p:txBody>
          <a:bodyPr/>
          <a:lstStyle/>
          <a:p/>
        </p:txBody>
      </p:sp>
      <p:sp>
        <p:nvSpPr>
          <p:cNvPr id="244" name="Label"/>
          <p:cNvSpPr txBox="1"/>
          <p:nvPr/>
        </p:nvSpPr>
        <p:spPr>
          <a:xfrm>
            <a:off x="2438400" y="1981200"/>
            <a:ext cx="1727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path=circle</a:t>
            </a:r>
            <a:endParaRPr lang="en-US" sz="900"/>
          </a:p>
        </p:txBody>
      </p:sp>
      <p:sp>
        <p:nvSpPr>
          <p:cNvPr id="245" name="path=rect"/>
          <p:cNvSpPr/>
          <p:nvPr/>
        </p:nvSpPr>
        <p:spPr>
          <a:xfrm>
            <a:off x="4419600" y="660400"/>
            <a:ext cx="1727200" cy="1219200"/>
          </a:xfrm>
          <a:prstGeom prst="rect">
            <a:avLst/>
          </a:prstGeom>
          <a:gradFill>
            <a:gsLst>
              <a:gs pos="0">
                <a:srgbClr val="F9A825"/>
              </a:gs>
              <a:gs pos="100000">
                <a:srgbClr val="0F766E"/>
              </a:gs>
            </a:gsLst>
            <a:path path="rect">
              <a:fillToRect l="50000" t="50000" r="50000" b="50000"/>
            </a:path>
          </a:gradFill>
        </p:spPr>
        <p:txBody>
          <a:bodyPr/>
          <a:lstStyle/>
          <a:p/>
        </p:txBody>
      </p:sp>
      <p:sp>
        <p:nvSpPr>
          <p:cNvPr id="246" name="Label"/>
          <p:cNvSpPr txBox="1"/>
          <p:nvPr/>
        </p:nvSpPr>
        <p:spPr>
          <a:xfrm>
            <a:off x="4419600" y="1981200"/>
            <a:ext cx="1727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path=rect</a:t>
            </a:r>
            <a:endParaRPr lang="en-US" sz="900"/>
          </a:p>
        </p:txBody>
      </p:sp>
      <p:sp>
        <p:nvSpPr>
          <p:cNvPr id="247" name="path=shape"/>
          <p:cNvSpPr/>
          <p:nvPr/>
        </p:nvSpPr>
        <p:spPr>
          <a:xfrm>
            <a:off x="6400800" y="660400"/>
            <a:ext cx="1727200" cy="1219200"/>
          </a:xfrm>
          <a:prstGeom prst="rect">
            <a:avLst/>
          </a:prstGeom>
          <a:gradFill>
            <a:gsLst>
              <a:gs pos="0">
                <a:srgbClr val="F9A825"/>
              </a:gs>
              <a:gs pos="100000">
                <a:srgbClr val="0F766E"/>
              </a:gs>
            </a:gsLst>
            <a:path path="shape">
              <a:fillToRect l="50000" t="50000" r="50000" b="50000"/>
            </a:path>
          </a:gradFill>
        </p:spPr>
        <p:txBody>
          <a:bodyPr/>
          <a:lstStyle/>
          <a:p/>
        </p:txBody>
      </p:sp>
      <p:sp>
        <p:nvSpPr>
          <p:cNvPr id="248" name="Label"/>
          <p:cNvSpPr txBox="1"/>
          <p:nvPr/>
        </p:nvSpPr>
        <p:spPr>
          <a:xfrm>
            <a:off x="6400800" y="1981200"/>
            <a:ext cx="1727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path=shape</a:t>
            </a:r>
            <a:endParaRPr lang="en-US" sz="900"/>
          </a:p>
        </p:txBody>
      </p:sp>
      <p:sp>
        <p:nvSpPr>
          <p:cNvPr id="249" name="Label"/>
          <p:cNvSpPr txBox="1"/>
          <p:nvPr/>
        </p:nvSpPr>
        <p:spPr>
          <a:xfrm>
            <a:off x="457200" y="24384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PARTLY RENDERED. a:path@path is read nowhere, so circle, rect and shape all come out as the same radial gradient.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svg="http://schemas.microsoft.com/office/drawing/2016/SVG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0F172A"/>
                </a:solidFill>
              </a:rPr>
              <a:t>10  a:tile@flip and @algn - mirrored tiles (NOT RENDERED)</a:t>
            </a:r>
            <a:endParaRPr lang="en-US" sz="1100"/>
          </a:p>
        </p:txBody>
      </p:sp>
      <p:sp>
        <p:nvSpPr>
          <p:cNvPr id="250" name="tile none tl"/>
          <p:cNvSpPr/>
          <p:nvPr/>
        </p:nvSpPr>
        <p:spPr>
          <a:xfrm>
            <a:off x="457200" y="660400"/>
            <a:ext cx="1727200" cy="1219200"/>
          </a:xfrm>
          <a:prstGeom prst="rect">
            <a:avLst/>
          </a:prstGeom>
          <a:blipFill>
            <a:blip r:embed="rIdTile"/>
            <a:tile tx="0" ty="0" sx="60000" sy="60000" flip="none" algn="tl"/>
          </a:blipFill>
          <a:ln w="9525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251" name="Label"/>
          <p:cNvSpPr txBox="1"/>
          <p:nvPr/>
        </p:nvSpPr>
        <p:spPr>
          <a:xfrm>
            <a:off x="457200" y="1981200"/>
            <a:ext cx="1727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flip='none' algn='tl'</a:t>
            </a:r>
            <a:endParaRPr lang="en-US" sz="900"/>
          </a:p>
        </p:txBody>
      </p:sp>
      <p:sp>
        <p:nvSpPr>
          <p:cNvPr id="252" name="tile x tl"/>
          <p:cNvSpPr/>
          <p:nvPr/>
        </p:nvSpPr>
        <p:spPr>
          <a:xfrm>
            <a:off x="2438400" y="660400"/>
            <a:ext cx="1727200" cy="1219200"/>
          </a:xfrm>
          <a:prstGeom prst="rect">
            <a:avLst/>
          </a:prstGeom>
          <a:blipFill>
            <a:blip r:embed="rIdTile"/>
            <a:tile tx="0" ty="0" sx="60000" sy="60000" flip="x" algn="tl"/>
          </a:blipFill>
          <a:ln w="9525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253" name="Label"/>
          <p:cNvSpPr txBox="1"/>
          <p:nvPr/>
        </p:nvSpPr>
        <p:spPr>
          <a:xfrm>
            <a:off x="2438400" y="1981200"/>
            <a:ext cx="1727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flip='x' algn='tl'</a:t>
            </a:r>
            <a:endParaRPr lang="en-US" sz="900"/>
          </a:p>
        </p:txBody>
      </p:sp>
      <p:sp>
        <p:nvSpPr>
          <p:cNvPr id="254" name="tile xy tl"/>
          <p:cNvSpPr/>
          <p:nvPr/>
        </p:nvSpPr>
        <p:spPr>
          <a:xfrm>
            <a:off x="4419600" y="660400"/>
            <a:ext cx="1727200" cy="1219200"/>
          </a:xfrm>
          <a:prstGeom prst="rect">
            <a:avLst/>
          </a:prstGeom>
          <a:blipFill>
            <a:blip r:embed="rIdTile"/>
            <a:tile tx="0" ty="0" sx="60000" sy="60000" flip="xy" algn="tl"/>
          </a:blipFill>
          <a:ln w="9525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255" name="Label"/>
          <p:cNvSpPr txBox="1"/>
          <p:nvPr/>
        </p:nvSpPr>
        <p:spPr>
          <a:xfrm>
            <a:off x="4419600" y="1981200"/>
            <a:ext cx="1727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flip='xy' algn='tl'</a:t>
            </a:r>
            <a:endParaRPr lang="en-US" sz="900"/>
          </a:p>
        </p:txBody>
      </p:sp>
      <p:sp>
        <p:nvSpPr>
          <p:cNvPr id="256" name="tile none ctr"/>
          <p:cNvSpPr/>
          <p:nvPr/>
        </p:nvSpPr>
        <p:spPr>
          <a:xfrm>
            <a:off x="6400800" y="660400"/>
            <a:ext cx="1727200" cy="1219200"/>
          </a:xfrm>
          <a:prstGeom prst="rect">
            <a:avLst/>
          </a:prstGeom>
          <a:blipFill>
            <a:blip r:embed="rIdTile"/>
            <a:tile tx="0" ty="0" sx="60000" sy="60000" flip="none" algn="ctr"/>
          </a:blipFill>
          <a:ln w="9525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257" name="Label"/>
          <p:cNvSpPr txBox="1"/>
          <p:nvPr/>
        </p:nvSpPr>
        <p:spPr>
          <a:xfrm>
            <a:off x="6400800" y="1981200"/>
            <a:ext cx="1727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flip='none' algn='ctr'</a:t>
            </a:r>
            <a:endParaRPr lang="en-US" sz="900"/>
          </a:p>
        </p:txBody>
      </p:sp>
      <p:sp>
        <p:nvSpPr>
          <p:cNvPr id="258" name="Label"/>
          <p:cNvSpPr txBox="1"/>
          <p:nvPr/>
        </p:nvSpPr>
        <p:spPr>
          <a:xfrm>
            <a:off x="457200" y="24384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NOT RENDERED. An SVG &lt;pattern&gt; repeats one tile unchanged, so flip and algn are both dropped and all four tile identically.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svg="http://schemas.microsoft.com/office/drawing/2016/SVG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0F172A"/>
                </a:solidFill>
              </a:rPr>
              <a:t>11  a:bodyPr@anchorCtr - centre the text block (NOT RENDERED)</a:t>
            </a:r>
            <a:endParaRPr lang="en-US" sz="1100"/>
          </a:p>
        </p:txBody>
      </p:sp>
      <p:sp>
        <p:nvSpPr>
          <p:cNvPr id="259" name="anchorCtr off"/>
          <p:cNvSpPr/>
          <p:nvPr/>
        </p:nvSpPr>
        <p:spPr>
          <a:xfrm>
            <a:off x="457200" y="660400"/>
            <a:ext cx="3556000" cy="139700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txBody>
          <a:bodyPr wrap="square" anchorCtr="0"/>
          <a:lstStyle/>
          <a:p>
            <a:pPr algn="l"/>
            <a:r>
              <a:rPr lang="en-US" sz="1600"/>
              <a:t>short</a:t>
            </a:r>
          </a:p>
          <a:p>
            <a:pPr algn="l"/>
            <a:r>
              <a:rPr lang="en-US" sz="1600"/>
              <a:t>a much longer line than the first</a:t>
            </a:r>
          </a:p>
          <a:p>
            <a:pPr algn="l"/>
            <a:r>
              <a:rPr lang="en-US" sz="1600"/>
              <a:t>mid length line</a:t>
            </a:r>
          </a:p>
        </p:txBody>
      </p:sp>
      <p:sp>
        <p:nvSpPr>
          <p:cNvPr id="260" name="Label"/>
          <p:cNvSpPr txBox="1"/>
          <p:nvPr/>
        </p:nvSpPr>
        <p:spPr>
          <a:xfrm>
            <a:off x="457200" y="21590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anchorCtr='0'</a:t>
            </a:r>
            <a:endParaRPr lang="en-US" sz="900"/>
          </a:p>
        </p:txBody>
      </p:sp>
      <p:sp>
        <p:nvSpPr>
          <p:cNvPr id="261" name="anchorCtr on"/>
          <p:cNvSpPr/>
          <p:nvPr/>
        </p:nvSpPr>
        <p:spPr>
          <a:xfrm>
            <a:off x="4521200" y="660400"/>
            <a:ext cx="3556000" cy="139700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txBody>
          <a:bodyPr wrap="square" anchorCtr="1"/>
          <a:lstStyle/>
          <a:p>
            <a:pPr algn="l"/>
            <a:r>
              <a:rPr lang="en-US" sz="1600"/>
              <a:t>short</a:t>
            </a:r>
          </a:p>
          <a:p>
            <a:pPr algn="l"/>
            <a:r>
              <a:rPr lang="en-US" sz="1600"/>
              <a:t>a much longer line than the first</a:t>
            </a:r>
          </a:p>
          <a:p>
            <a:pPr algn="l"/>
            <a:r>
              <a:rPr lang="en-US" sz="1600"/>
              <a:t>mid length line</a:t>
            </a:r>
          </a:p>
        </p:txBody>
      </p:sp>
      <p:sp>
        <p:nvSpPr>
          <p:cNvPr id="262" name="Label"/>
          <p:cNvSpPr txBox="1"/>
          <p:nvPr/>
        </p:nvSpPr>
        <p:spPr>
          <a:xfrm>
            <a:off x="4521200" y="21590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anchorCtr='1'</a:t>
            </a:r>
            <a:endParaRPr lang="en-US" sz="900"/>
          </a:p>
        </p:txBody>
      </p:sp>
      <p:sp>
        <p:nvSpPr>
          <p:cNvPr id="263" name="Label"/>
          <p:cNvSpPr txBox="1"/>
          <p:nvPr/>
        </p:nvSpPr>
        <p:spPr>
          <a:xfrm>
            <a:off x="457200" y="25654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NOT RENDERED. anchorCtr appears nowhere in src/, so both boxes are drawn left-aligned; PowerPoint centres the right-hand block as a whole.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svg="http://schemas.microsoft.com/office/drawing/2016/SVG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0F172A"/>
                </a:solidFill>
              </a:rPr>
              <a:t>12  a:outerShdw@rotWithShape and a:blur@grow (NOT RENDERED)</a:t>
            </a:r>
            <a:endParaRPr lang="en-US" sz="1100"/>
          </a:p>
        </p:txBody>
      </p:sp>
      <p:sp>
        <p:nvSpPr>
          <p:cNvPr id="264" name="Shadow upright"/>
          <p:cNvSpPr/>
          <p:nvPr/>
        </p:nvSpPr>
        <p:spPr>
          <a:xfrm>
            <a:off x="457200" y="660400"/>
            <a:ext cx="1524000" cy="1016000"/>
          </a:xfrm>
          <a:prstGeom prst="rect">
            <a:avLst/>
          </a:prstGeom>
          <a:solidFill>
            <a:srgbClr val="1D4ED8"/>
          </a:solidFill>
          <a:effectLst>
            <a:outerShdw blurRad="76200" dist="114300" dir="2700000" rotWithShape="1">
              <a:srgbClr val="0F172A">
                <a:alpha val="55000"/>
              </a:srgbClr>
            </a:outerShdw>
          </a:effectLst>
        </p:spPr>
        <p:txBody>
          <a:bodyPr/>
          <a:lstStyle/>
          <a:p/>
        </p:txBody>
      </p:sp>
      <p:sp>
        <p:nvSpPr>
          <p:cNvPr id="265" name="Label"/>
          <p:cNvSpPr txBox="1"/>
          <p:nvPr/>
        </p:nvSpPr>
        <p:spPr>
          <a:xfrm>
            <a:off x="457200" y="21336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upright, rotWithShape='1'</a:t>
            </a:r>
            <a:endParaRPr lang="en-US" sz="900"/>
          </a:p>
        </p:txBody>
      </p:sp>
      <p:sp>
        <p:nvSpPr>
          <p:cNvPr id="266" name="Shadow turned"/>
          <p:cNvSpPr/>
          <p:nvPr/>
        </p:nvSpPr>
        <p:spPr>
          <a:xfrm rot="1800000">
            <a:off x="2997200" y="660400"/>
            <a:ext cx="1524000" cy="1016000"/>
          </a:xfrm>
          <a:prstGeom prst="rect">
            <a:avLst/>
          </a:prstGeom>
          <a:solidFill>
            <a:srgbClr val="1D4ED8"/>
          </a:solidFill>
          <a:effectLst>
            <a:outerShdw blurRad="76200" dist="114300" dir="2700000" rotWithShape="0">
              <a:srgbClr val="0F172A">
                <a:alpha val="55000"/>
              </a:srgbClr>
            </a:outerShdw>
          </a:effectLst>
        </p:spPr>
        <p:txBody>
          <a:bodyPr/>
          <a:lstStyle/>
          <a:p/>
        </p:txBody>
      </p:sp>
      <p:sp>
        <p:nvSpPr>
          <p:cNvPr id="267" name="Label"/>
          <p:cNvSpPr txBox="1"/>
          <p:nvPr/>
        </p:nvSpPr>
        <p:spPr>
          <a:xfrm>
            <a:off x="2997200" y="2133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rot=30deg, rotWithShape='0'</a:t>
            </a:r>
            <a:endParaRPr lang="en-US" sz="900"/>
          </a:p>
        </p:txBody>
      </p:sp>
      <p:pic>
        <p:nvPicPr>
          <p:cNvPr id="268" name="Blur grow"/>
          <p:cNvPicPr/>
          <p:nvPr/>
        </p:nvPicPr>
        <p:blipFill>
          <a:blip r:embed="rIdSwatch">
            <a:blur rad="76200" grow="1"/>
          </a:blip>
          <a:stretch>
            <a:fillRect/>
          </a:stretch>
        </p:blipFill>
        <p:spPr>
          <a:xfrm>
            <a:off x="5918200" y="660400"/>
            <a:ext cx="2032000" cy="508000"/>
          </a:xfrm>
          <a:prstGeom prst="rect">
            <a:avLst/>
          </a:prstGeom>
        </p:spPr>
      </p:pic>
      <p:sp>
        <p:nvSpPr>
          <p:cNvPr id="269" name="Label"/>
          <p:cNvSpPr txBox="1"/>
          <p:nvPr/>
        </p:nvSpPr>
        <p:spPr>
          <a:xfrm>
            <a:off x="5918200" y="21336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a:blur grow='1'</a:t>
            </a:r>
            <a:endParaRPr lang="en-US" sz="900"/>
          </a:p>
        </p:txBody>
      </p:sp>
      <p:sp>
        <p:nvSpPr>
          <p:cNvPr id="270" name="Label"/>
          <p:cNvSpPr txBox="1"/>
          <p:nvPr/>
        </p:nvSpPr>
        <p:spPr>
          <a:xfrm>
            <a:off x="457200" y="25654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NOT RENDERED. The shadow turns with the shape whatever rotWithShape says, and the blur is clipped at the picture's edge whatever grow says.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svg="http://schemas.microsoft.com/office/drawing/2016/SVG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0F172A"/>
                </a:solidFill>
              </a:rPr>
              <a:t>13  a:pattFill - pattern presets (RENDERED; regression pin)</a:t>
            </a:r>
            <a:endParaRPr lang="en-US" sz="1100"/>
          </a:p>
        </p:txBody>
      </p:sp>
      <p:sp>
        <p:nvSpPr>
          <p:cNvPr id="271" name="ltUpDiag"/>
          <p:cNvSpPr/>
          <p:nvPr/>
        </p:nvSpPr>
        <p:spPr>
          <a:xfrm>
            <a:off x="457200" y="660400"/>
            <a:ext cx="2286000" cy="1066800"/>
          </a:xfrm>
          <a:prstGeom prst="rect">
            <a:avLst/>
          </a:prstGeom>
          <a:pattFill prst="ltUpDiag">
            <a:fgClr>
              <a:srgbClr val="0F766E"/>
            </a:fgClr>
            <a:bgClr>
              <a:srgbClr val="FFFFFF"/>
            </a:bgClr>
          </a:pattFill>
          <a:ln w="9525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272" name="Label"/>
          <p:cNvSpPr txBox="1"/>
          <p:nvPr/>
        </p:nvSpPr>
        <p:spPr>
          <a:xfrm>
            <a:off x="457200" y="18034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a:pattFill prst='ltUpDiag'</a:t>
            </a:r>
            <a:endParaRPr lang="en-US" sz="900"/>
          </a:p>
        </p:txBody>
      </p:sp>
      <p:sp>
        <p:nvSpPr>
          <p:cNvPr id="273" name="dkDnDiag"/>
          <p:cNvSpPr/>
          <p:nvPr/>
        </p:nvSpPr>
        <p:spPr>
          <a:xfrm>
            <a:off x="3098800" y="660400"/>
            <a:ext cx="2286000" cy="1066800"/>
          </a:xfrm>
          <a:prstGeom prst="rect">
            <a:avLst/>
          </a:prstGeom>
          <a:pattFill prst="dkDnDiag">
            <a:fgClr>
              <a:srgbClr val="0F766E"/>
            </a:fgClr>
            <a:bgClr>
              <a:srgbClr val="FFFFFF"/>
            </a:bgClr>
          </a:pattFill>
          <a:ln w="9525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274" name="Label"/>
          <p:cNvSpPr txBox="1"/>
          <p:nvPr/>
        </p:nvSpPr>
        <p:spPr>
          <a:xfrm>
            <a:off x="3098800" y="18034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a:pattFill prst='dkDnDiag'</a:t>
            </a:r>
            <a:endParaRPr lang="en-US" sz="900"/>
          </a:p>
        </p:txBody>
      </p:sp>
      <p:sp>
        <p:nvSpPr>
          <p:cNvPr id="275" name="cross"/>
          <p:cNvSpPr/>
          <p:nvPr/>
        </p:nvSpPr>
        <p:spPr>
          <a:xfrm>
            <a:off x="5740400" y="660400"/>
            <a:ext cx="2286000" cy="1066800"/>
          </a:xfrm>
          <a:prstGeom prst="rect">
            <a:avLst/>
          </a:prstGeom>
          <a:pattFill prst="cross">
            <a:fgClr>
              <a:srgbClr val="0F766E"/>
            </a:fgClr>
            <a:bgClr>
              <a:srgbClr val="FFFFFF"/>
            </a:bgClr>
          </a:pattFill>
          <a:ln w="9525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276" name="Label"/>
          <p:cNvSpPr txBox="1"/>
          <p:nvPr/>
        </p:nvSpPr>
        <p:spPr>
          <a:xfrm>
            <a:off x="5740400" y="18034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a:pattFill prst='cross'</a:t>
            </a:r>
            <a:endParaRPr lang="en-US" sz="900"/>
          </a:p>
        </p:txBody>
      </p:sp>
      <p:sp>
        <p:nvSpPr>
          <p:cNvPr id="277" name="diagCross"/>
          <p:cNvSpPr/>
          <p:nvPr/>
        </p:nvSpPr>
        <p:spPr>
          <a:xfrm>
            <a:off x="457200" y="2133600"/>
            <a:ext cx="2286000" cy="1066800"/>
          </a:xfrm>
          <a:prstGeom prst="rect">
            <a:avLst/>
          </a:prstGeom>
          <a:pattFill prst="diagCross">
            <a:fgClr>
              <a:srgbClr val="0F766E"/>
            </a:fgClr>
            <a:bgClr>
              <a:srgbClr val="FFFFFF"/>
            </a:bgClr>
          </a:pattFill>
          <a:ln w="9525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278" name="Label"/>
          <p:cNvSpPr txBox="1"/>
          <p:nvPr/>
        </p:nvSpPr>
        <p:spPr>
          <a:xfrm>
            <a:off x="457200" y="32766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a:pattFill prst='diagCross'</a:t>
            </a:r>
            <a:endParaRPr lang="en-US" sz="900"/>
          </a:p>
        </p:txBody>
      </p:sp>
      <p:sp>
        <p:nvSpPr>
          <p:cNvPr id="279" name="horz"/>
          <p:cNvSpPr/>
          <p:nvPr/>
        </p:nvSpPr>
        <p:spPr>
          <a:xfrm>
            <a:off x="3098800" y="2133600"/>
            <a:ext cx="2286000" cy="1066800"/>
          </a:xfrm>
          <a:prstGeom prst="rect">
            <a:avLst/>
          </a:prstGeom>
          <a:pattFill prst="horz">
            <a:fgClr>
              <a:srgbClr val="0F766E"/>
            </a:fgClr>
            <a:bgClr>
              <a:srgbClr val="FFFFFF"/>
            </a:bgClr>
          </a:pattFill>
          <a:ln w="9525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280" name="Label"/>
          <p:cNvSpPr txBox="1"/>
          <p:nvPr/>
        </p:nvSpPr>
        <p:spPr>
          <a:xfrm>
            <a:off x="3098800" y="32766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a:pattFill prst='horz'</a:t>
            </a:r>
            <a:endParaRPr lang="en-US" sz="900"/>
          </a:p>
        </p:txBody>
      </p:sp>
      <p:sp>
        <p:nvSpPr>
          <p:cNvPr id="281" name="pct25"/>
          <p:cNvSpPr/>
          <p:nvPr/>
        </p:nvSpPr>
        <p:spPr>
          <a:xfrm>
            <a:off x="5740400" y="2133600"/>
            <a:ext cx="2286000" cy="1066800"/>
          </a:xfrm>
          <a:prstGeom prst="rect">
            <a:avLst/>
          </a:prstGeom>
          <a:pattFill prst="pct25">
            <a:fgClr>
              <a:srgbClr val="0F766E"/>
            </a:fgClr>
            <a:bgClr>
              <a:srgbClr val="FFFFFF"/>
            </a:bgClr>
          </a:pattFill>
          <a:ln w="9525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282" name="Label"/>
          <p:cNvSpPr txBox="1"/>
          <p:nvPr/>
        </p:nvSpPr>
        <p:spPr>
          <a:xfrm>
            <a:off x="5740400" y="32766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900">
                <a:solidFill>
                  <a:srgbClr val="475569"/>
                </a:solidFill>
              </a:rPr>
              <a:t>a:pattFill prst='pct25'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pptx-glimpse</Application>
  <PresentationFormat>On-screen Show (16:9)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pptx-glimpse</dc:creator>
  <cp:lastModifiedBy>pptx-glimpse</cp:lastModifiedBy>
</cp:coreProperties>
</file>