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slides/slide12.xml" ContentType="application/vnd.openxmlformats-officedocument.presentationml.slide+xml"/>
  <Override PartName="/ppt/charts/chart12.xml" ContentType="application/vnd.openxmlformats-officedocument.drawingml.chart+xml"/>
  <Override PartName="/ppt/slides/slide13.xml" ContentType="application/vnd.openxmlformats-officedocument.presentationml.slide+xml"/>
  <Override PartName="/ppt/charts/chart13.xml" ContentType="application/vnd.openxmlformats-officedocument.drawingml.chart+xml"/>
  <Override PartName="/ppt/slides/slide14.xml" ContentType="application/vnd.openxmlformats-officedocument.presentationml.slide+xml"/>
  <Override PartName="/ppt/charts/chart14.xml" ContentType="application/vnd.openxmlformats-officedocument.drawingml.chart+xml"/>
  <Override PartName="/ppt/slides/slide15.xml" ContentType="application/vnd.openxmlformats-officedocument.presentationml.slide+xml"/>
  <Override PartName="/ppt/charts/chart15.xml" ContentType="application/vnd.openxmlformats-officedocument.drawingml.chart+xml"/>
  <Override PartName="/ppt/slides/slide16.xml" ContentType="application/vnd.openxmlformats-officedocument.presentationml.slide+xml"/>
  <Override PartName="/ppt/charts/chart16.xml" ContentType="application/vnd.openxmlformats-officedocument.drawingml.chart+xml"/>
  <Override PartName="/ppt/slides/slide17.xml" ContentType="application/vnd.openxmlformats-officedocument.presentationml.slide+xml"/>
  <Override PartName="/ppt/charts/chart17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  <p:sldId id="269" r:id="rIdS14"/>
    <p:sldId id="270" r:id="rIdS15"/>
    <p:sldId id="271" r:id="rIdS16"/>
    <p:sldId id="272" r:id="rIdS17"/>
  </p:sldIdLst>
  <p:sldSz cx="9144000" cy="51435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en-US" sz="1400" b="0"/>
              <a:t>Plan against actual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strCache>
                <c:ptCount val="5"/>
                <c:pt idx="0">
                  <c:v>Infrastructure</c:v>
                </c:pt>
                <c:pt idx="1">
                  <c:v>Administration</c:v>
                </c:pt>
                <c:pt idx="2">
                  <c:v>Transportation</c:v>
                </c:pt>
                <c:pt idx="3">
                  <c:v>Manufacturing</c:v>
                </c:pt>
                <c:pt idx="4">
                  <c:v>Communications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42.0</c:v>
                </c:pt>
                <c:pt idx="1">
                  <c:v>58.0</c:v>
                </c:pt>
                <c:pt idx="2">
                  <c:v>31.0</c:v>
                </c:pt>
                <c:pt idx="3">
                  <c:v>66.0</c:v>
                </c:pt>
                <c:pt idx="4">
                  <c:v>49.0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strCache>
                <c:ptCount val="5"/>
                <c:pt idx="0">
                  <c:v>Infrastructure</c:v>
                </c:pt>
                <c:pt idx="1">
                  <c:v>Administration</c:v>
                </c:pt>
                <c:pt idx="2">
                  <c:v>Transportation</c:v>
                </c:pt>
                <c:pt idx="3">
                  <c:v>Manufacturing</c:v>
                </c:pt>
                <c:pt idx="4">
                  <c:v>Communications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37.0</c:v>
                </c:pt>
                <c:pt idx="1">
                  <c:v>61.0</c:v>
                </c:pt>
                <c:pt idx="2">
                  <c:v>44.0</c:v>
                </c:pt>
                <c:pt idx="3">
                  <c:v>52.0</c:v>
                </c:pt>
                <c:pt idx="4">
                  <c:v>58.0</c:v>
                </c:pt>
              </c:numCache>
            </c:numRef>
          </c:val>
        </c:ser>
        <c:gapWidth val="150"/>
        <c:overlap val="-27"/>
        <c:axId val="111000"/>
        <c:axId val="111001"/>
      </c:barChart>
      <c:catAx>
        <c:axId val="111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1001"/>
        <c:crosses val="autoZero"/>
        <c:auto val="1"/>
        <c:lblAlgn val="ctr"/>
        <c:lblOffset val="100"/>
        <c:noMultiLvlLbl val="0"/>
      </c:catAx>
      <c:valAx>
        <c:axId val="111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1000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Units</c:v>
                </c:pt>
              </c:strCache>
            </c:strRef>
          </c:tx>
          <c:cat>
            <c:strRef>
              <c:strCache>
                <c:ptCount val="5"/>
                <c:pt idx="0">
                  <c:v>Direct</c:v>
                </c:pt>
                <c:pt idx="1">
                  <c:v>Partner</c:v>
                </c:pt>
                <c:pt idx="2">
                  <c:v>Online</c:v>
                </c:pt>
                <c:pt idx="3">
                  <c:v>Retail</c:v>
                </c:pt>
                <c:pt idx="4">
                  <c:v>Wholesale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1240.0</c:v>
                </c:pt>
                <c:pt idx="1">
                  <c:v>860.0</c:v>
                </c:pt>
                <c:pt idx="2">
                  <c:v>1980.0</c:v>
                </c:pt>
                <c:pt idx="3">
                  <c:v>640.0</c:v>
                </c:pt>
                <c:pt idx="4">
                  <c:v>1510.0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12000"/>
        <c:axId val="112001"/>
      </c:barChart>
      <c:catAx>
        <c:axId val="1120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12001"/>
        <c:crosses val="autoZero"/>
        <c:auto val="1"/>
        <c:lblAlgn val="ctr"/>
        <c:lblOffset val="100"/>
        <c:noMultiLvlLbl val="0"/>
      </c:catAx>
      <c:valAx>
        <c:axId val="112001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12000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North</c:v>
                </c:pt>
              </c:strCache>
            </c:strRef>
          </c:tx>
          <c:marker>
            <c:symbol val="circle"/>
            <c:size val="5"/>
          </c:marker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12.0</c:v>
                </c:pt>
                <c:pt idx="1">
                  <c:v>19.0</c:v>
                </c:pt>
                <c:pt idx="2">
                  <c:v>24.0</c:v>
                </c:pt>
                <c:pt idx="3">
                  <c:v>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South</c:v>
                </c:pt>
              </c:strCache>
            </c:strRef>
          </c:tx>
          <c:marker>
            <c:symbol val="circle"/>
            <c:size val="5"/>
          </c:marker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8.0</c:v>
                </c:pt>
                <c:pt idx="1">
                  <c:v>11.0</c:v>
                </c:pt>
                <c:pt idx="2">
                  <c:v>17.0</c:v>
                </c:pt>
                <c:pt idx="3">
                  <c:v>26.0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strCache>
                <c:ptCount val="1"/>
                <c:pt idx="0">
                  <c:v>Export</c:v>
                </c:pt>
              </c:strCache>
            </c:strRef>
          </c:tx>
          <c:marker>
            <c:symbol val="circle"/>
            <c:size val="5"/>
          </c:marker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22.0</c:v>
                </c:pt>
                <c:pt idx="1">
                  <c:v>18.0</c:v>
                </c:pt>
                <c:pt idx="2">
                  <c:v>14.0</c:v>
                </c:pt>
                <c:pt idx="3">
                  <c:v>11.0</c:v>
                </c:pt>
              </c:numCache>
            </c:numRef>
          </c:val>
          <c:smooth val="0"/>
        </c:ser>
        <c:marker val="1"/>
        <c:axId val="113000"/>
        <c:axId val="113001"/>
      </c:lineChart>
      <c:catAx>
        <c:axId val="113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3001"/>
        <c:crosses val="autoZero"/>
        <c:auto val="1"/>
        <c:lblAlgn val="ctr"/>
        <c:lblOffset val="100"/>
        <c:noMultiLvlLbl val="0"/>
      </c:catAx>
      <c:valAx>
        <c:axId val="113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3000"/>
        <c:crosses val="autoZero"/>
        <c:crossBetween val="between"/>
      </c:valAx>
    </c:plotArea>
    <c:legend>
      <c:legendPos val="t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en-US" sz="1400" b="0"/>
              <a:t>Revenue mix by quarter</a:t>
            </a:r>
          </a:p>
        </c:rich>
      </c:tx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Licences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30.0</c:v>
                </c:pt>
                <c:pt idx="1">
                  <c:v>34.0</c:v>
                </c:pt>
                <c:pt idx="2">
                  <c:v>39.0</c:v>
                </c:pt>
                <c:pt idx="3">
                  <c:v>45.0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Services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21.0</c:v>
                </c:pt>
                <c:pt idx="3">
                  <c:v>27.0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Support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9.0</c:v>
                </c:pt>
                <c:pt idx="1">
                  <c:v>11.0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114000"/>
        <c:axId val="114001"/>
      </c:areaChart>
      <c:catAx>
        <c:axId val="114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4001"/>
        <c:crosses val="autoZero"/>
        <c:auto val="1"/>
        <c:lblAlgn val="ctr"/>
        <c:lblOffset val="100"/>
        <c:noMultiLvlLbl val="0"/>
      </c:catAx>
      <c:valAx>
        <c:axId val="114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4000"/>
        <c:crosses val="autoZero"/>
      </c:valAx>
    </c:plotArea>
    <c:legend>
      <c:legendPos val="r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strCache>
                <c:ptCount val="1"/>
                <c:pt idx="0">
                  <c:v>Cohort A</c:v>
                </c:pt>
              </c:strCache>
            </c:strRef>
          </c:tx>
          <c:marker>
            <c:symbol val="circle"/>
            <c:size val="6"/>
          </c:marker>
          <c:xVal>
            <c:numRef>
              <c:numCache>
                <c:formatCode>General</c:formatCode>
                <c:ptCount val="6"/>
                <c:pt idx="0">
                  <c:v>1.2</c:v>
                </c:pt>
                <c:pt idx="1">
                  <c:v>2.4</c:v>
                </c:pt>
                <c:pt idx="2">
                  <c:v>3.1</c:v>
                </c:pt>
                <c:pt idx="3">
                  <c:v>4.7</c:v>
                </c:pt>
                <c:pt idx="4">
                  <c:v>5.9</c:v>
                </c:pt>
                <c:pt idx="5">
                  <c:v>7.2</c:v>
                </c:pt>
              </c:numCache>
            </c:numRef>
          </c:xVal>
          <c:yVal>
            <c:numRef>
              <c:numCache>
                <c:formatCode>General</c:formatCode>
                <c:ptCount val="6"/>
                <c:pt idx="0">
                  <c:v>3.4</c:v>
                </c:pt>
                <c:pt idx="1">
                  <c:v>4.9</c:v>
                </c:pt>
                <c:pt idx="2">
                  <c:v>4.1</c:v>
                </c:pt>
                <c:pt idx="3">
                  <c:v>6.8</c:v>
                </c:pt>
                <c:pt idx="4">
                  <c:v>6.2</c:v>
                </c:pt>
                <c:pt idx="5">
                  <c:v>8.5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Cohort B</c:v>
                </c:pt>
              </c:strCache>
            </c:strRef>
          </c:tx>
          <c:marker>
            <c:symbol val="square"/>
            <c:size val="6"/>
          </c:marker>
          <c:xVal>
            <c:numRef>
              <c:numCache>
                <c:formatCode>General</c:formatCode>
                <c:ptCount val="6"/>
                <c:pt idx="0">
                  <c:v>1.0</c:v>
                </c:pt>
                <c:pt idx="1">
                  <c:v>2.9</c:v>
                </c:pt>
                <c:pt idx="2">
                  <c:v>3.8</c:v>
                </c:pt>
                <c:pt idx="3">
                  <c:v>5.1</c:v>
                </c:pt>
                <c:pt idx="4">
                  <c:v>6.4</c:v>
                </c:pt>
                <c:pt idx="5">
                  <c:v>7.8</c:v>
                </c:pt>
              </c:numCache>
            </c:numRef>
          </c:xVal>
          <c:yVal>
            <c:numRef>
              <c:numCache>
                <c:formatCode>General</c:formatCode>
                <c:ptCount val="6"/>
                <c:pt idx="0">
                  <c:v>1.9</c:v>
                </c:pt>
                <c:pt idx="1">
                  <c:v>2.6</c:v>
                </c:pt>
                <c:pt idx="2">
                  <c:v>3.9</c:v>
                </c:pt>
                <c:pt idx="3">
                  <c:v>4.2</c:v>
                </c:pt>
                <c:pt idx="4">
                  <c:v>5.6</c:v>
                </c:pt>
                <c:pt idx="5">
                  <c:v>5.1</c:v>
                </c:pt>
              </c:numCache>
            </c:numRef>
          </c:yVal>
          <c:smooth val="0"/>
        </c:ser>
        <c:axId val="115000"/>
        <c:axId val="115001"/>
      </c:scatterChart>
      <c:valAx>
        <c:axId val="115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5001"/>
        <c:crosses val="autoZero"/>
        <c:crossBetween val="midCat"/>
      </c:valAx>
      <c:valAx>
        <c:axId val="115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5000"/>
        <c:crosses val="autoZero"/>
        <c:crossBetween val="midCat"/>
      </c:valAx>
    </c:plotArea>
    <c:legend>
      <c:legendPos val="r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en-US" sz="1400" b="0"/>
              <a:t>Share against growth</a:t>
            </a:r>
          </a:p>
        </c:rich>
      </c:tx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strCache>
                <c:ptCount val="1"/>
                <c:pt idx="0">
                  <c:v>Region</c:v>
                </c:pt>
              </c:strCache>
            </c:strRef>
          </c:tx>
          <c:xVal>
            <c:numRef>
              <c:numCache>
                <c:formatCode>General</c:formatCode>
                <c:ptCount val="5"/>
                <c:pt idx="0">
                  <c:v>2.0</c:v>
                </c:pt>
                <c:pt idx="1">
                  <c:v>4.0</c:v>
                </c:pt>
                <c:pt idx="2">
                  <c:v>6.0</c:v>
                </c:pt>
                <c:pt idx="3">
                  <c:v>8.0</c:v>
                </c:pt>
                <c:pt idx="4">
                  <c:v>10.0</c:v>
                </c:pt>
              </c:numCache>
            </c:numRef>
          </c:xVal>
          <c:yVal>
            <c:numRef>
              <c:numCache>
                <c:formatCode>General</c:formatCode>
                <c:ptCount val="5"/>
                <c:pt idx="0">
                  <c:v>5.0</c:v>
                </c:pt>
                <c:pt idx="1">
                  <c:v>8.0</c:v>
                </c:pt>
                <c:pt idx="2">
                  <c:v>4.0</c:v>
                </c:pt>
                <c:pt idx="3">
                  <c:v>9.0</c:v>
                </c:pt>
                <c:pt idx="4">
                  <c:v>6.0</c:v>
                </c:pt>
              </c:numCache>
            </c:numRef>
          </c:yVal>
          <c:bubbleSize>
            <c:numRef>
              <c:numCache>
                <c:formatCode>General</c:formatCode>
                <c:ptCount val="5"/>
                <c:pt idx="0">
                  <c:v>14.0</c:v>
                </c:pt>
                <c:pt idx="1">
                  <c:v>32.0</c:v>
                </c:pt>
                <c:pt idx="2">
                  <c:v>9.0</c:v>
                </c:pt>
                <c:pt idx="3">
                  <c:v>40.0</c:v>
                </c:pt>
                <c:pt idx="4">
                  <c:v>21.0</c:v>
                </c:pt>
              </c:numCache>
            </c:numRef>
          </c:bubbleSize>
        </c:ser>
        <c:ser>
          <c:idx val="1"/>
          <c:order val="1"/>
          <c:tx>
            <c:strRef>
              <c:strCache>
                <c:ptCount val="1"/>
                <c:pt idx="0">
                  <c:v>Channel</c:v>
                </c:pt>
              </c:strCache>
            </c:strRef>
          </c:tx>
          <c:xVal>
            <c:numRef>
              <c:numCache>
                <c:formatCode>General</c:formatCode>
                <c:ptCount val="4"/>
                <c:pt idx="0">
                  <c:v>3.0</c:v>
                </c:pt>
                <c:pt idx="1">
                  <c:v>5.5</c:v>
                </c:pt>
                <c:pt idx="2">
                  <c:v>7.0</c:v>
                </c:pt>
                <c:pt idx="3">
                  <c:v>9.5</c:v>
                </c:pt>
              </c:numCache>
            </c:numRef>
          </c:xVal>
          <c:yVal>
            <c:numRef>
              <c:numCache>
                <c:formatCode>General</c:formatCode>
                <c:ptCount val="4"/>
                <c:pt idx="0">
                  <c:v>2.0</c:v>
                </c:pt>
                <c:pt idx="1">
                  <c:v>6.5</c:v>
                </c:pt>
                <c:pt idx="2">
                  <c:v>7.5</c:v>
                </c:pt>
                <c:pt idx="3">
                  <c:v>3.5</c:v>
                </c:pt>
              </c:numCache>
            </c:numRef>
          </c:yVal>
          <c:bubbleSize>
            <c:numRef>
              <c:numCache>
                <c:formatCode>General</c:formatCode>
                <c:ptCount val="4"/>
                <c:pt idx="0">
                  <c:v>25.0</c:v>
                </c:pt>
                <c:pt idx="1">
                  <c:v>12.0</c:v>
                </c:pt>
                <c:pt idx="2">
                  <c:v>30.0</c:v>
                </c:pt>
                <c:pt idx="3">
                  <c:v>18.0</c:v>
                </c:pt>
              </c:numCache>
            </c:numRef>
          </c:bubbleSize>
        </c:ser>
        <c:bubbleScale val="100"/>
        <c:showNegBubbles val="0"/>
        <c:axId val="116000"/>
        <c:axId val="116001"/>
      </c:bubbleChart>
      <c:valAx>
        <c:axId val="116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6001"/>
        <c:crosses val="autoZero"/>
        <c:crossBetween val="midCat"/>
      </c:valAx>
      <c:valAx>
        <c:axId val="116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6000"/>
        <c:crosses val="autoZero"/>
        <c:crossBetween val="midCat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en-US" sz="1400" b="0"/>
              <a:t>Spend by channel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strCache>
                <c:ptCount val="5"/>
                <c:pt idx="0">
                  <c:v>Direct</c:v>
                </c:pt>
                <c:pt idx="1">
                  <c:v>Partner</c:v>
                </c:pt>
                <c:pt idx="2">
                  <c:v>Online</c:v>
                </c:pt>
                <c:pt idx="3">
                  <c:v>Retail</c:v>
                </c:pt>
                <c:pt idx="4">
                  <c:v>Wholesale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34.0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12.0</c:v>
                </c:pt>
              </c:numCache>
            </c:numRef>
          </c:val>
        </c:ser>
        <c:firstSliceAng val="0"/>
      </c:pieChart>
    </c:plotArea>
    <c:legend>
      <c:legendPos val="r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strCache>
                <c:ptCount val="1"/>
                <c:pt idx="0">
                  <c:v>Headcount</c:v>
                </c:pt>
              </c:strCache>
            </c:strRef>
          </c:tx>
          <c:cat>
            <c:strRef>
              <c:strCache>
                <c:ptCount val="5"/>
                <c:pt idx="0">
                  <c:v>Direct</c:v>
                </c:pt>
                <c:pt idx="1">
                  <c:v>Partner</c:v>
                </c:pt>
                <c:pt idx="2">
                  <c:v>Online</c:v>
                </c:pt>
                <c:pt idx="3">
                  <c:v>Retail</c:v>
                </c:pt>
                <c:pt idx="4">
                  <c:v>Wholesale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28.0</c:v>
                </c:pt>
                <c:pt idx="1">
                  <c:v>24.0</c:v>
                </c:pt>
                <c:pt idx="2">
                  <c:v>19.0</c:v>
                </c:pt>
                <c:pt idx="3">
                  <c:v>17.0</c:v>
                </c:pt>
                <c:pt idx="4">
                  <c:v>12.0</c:v>
                </c:pt>
              </c:numCache>
            </c:numRef>
          </c:val>
        </c:ser>
        <c:firstSliceAng val="0"/>
        <c:holeSize val="55"/>
      </c:doughnutChart>
    </c:plotArea>
    <c:legend>
      <c:legendPos val="l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en-US" sz="1400" b="0"/>
              <a:t>Accounts by tier</a:t>
            </a:r>
          </a:p>
        </c:rich>
      </c:tx>
      <c:overlay val="0"/>
    </c:title>
    <c:autoTitleDeleted val="0"/>
    <c:plotArea>
      <c:layout/>
      <c:ofPieChart>
        <c:ofPieType val="bar"/>
        <c:varyColors val="1"/>
        <c:ser>
          <c:idx val="0"/>
          <c:order val="0"/>
          <c:tx>
            <c:strRef>
              <c:strCache>
                <c:ptCount val="1"/>
                <c:pt idx="0">
                  <c:v>Accounts</c:v>
                </c:pt>
              </c:strCache>
            </c:strRef>
          </c:tx>
          <c:cat>
            <c:strRef>
              <c:strCache>
                <c:ptCount val="6"/>
                <c:pt idx="0">
                  <c:v>Enterprise</c:v>
                </c:pt>
                <c:pt idx="1">
                  <c:v>Mid market</c:v>
                </c:pt>
                <c:pt idx="2">
                  <c:v>Small business</c:v>
                </c:pt>
                <c:pt idx="3">
                  <c:v>Education</c:v>
                </c:pt>
                <c:pt idx="4">
                  <c:v>Public</c:v>
                </c:pt>
                <c:pt idx="5">
                  <c:v>Other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48.0</c:v>
                </c:pt>
                <c:pt idx="1">
                  <c:v>22.0</c:v>
                </c:pt>
                <c:pt idx="2">
                  <c:v>14.0</c:v>
                </c:pt>
                <c:pt idx="3">
                  <c:v>7.0</c:v>
                </c:pt>
                <c:pt idx="4">
                  <c:v>5.0</c:v>
                </c:pt>
                <c:pt idx="5">
                  <c:v>4.0</c:v>
                </c:pt>
              </c:numCache>
            </c:numRef>
          </c:val>
        </c:ser>
        <c:gapWidth val="100"/>
        <c:splitType val="pos"/>
        <c:splitPos val="3"/>
        <c:secondPieSize val="75"/>
      </c:ofPieChart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strCache>
                <c:ptCount val="1"/>
                <c:pt idx="0">
                  <c:v>This year</c:v>
                </c:pt>
              </c:strCache>
            </c:strRef>
          </c:tx>
          <c:marker>
            <c:symbol val="circle"/>
            <c:size val="5"/>
          </c:marker>
          <c:cat>
            <c:strRef>
              <c:strCache>
                <c:ptCount val="6"/>
                <c:pt idx="0">
                  <c:v>Speed</c:v>
                </c:pt>
                <c:pt idx="1">
                  <c:v>Cost</c:v>
                </c:pt>
                <c:pt idx="2">
                  <c:v>Quality</c:v>
                </c:pt>
                <c:pt idx="3">
                  <c:v>Support</c:v>
                </c:pt>
                <c:pt idx="4">
                  <c:v>Reach</c:v>
                </c:pt>
                <c:pt idx="5">
                  <c:v>Risk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80.0</c:v>
                </c:pt>
                <c:pt idx="1">
                  <c:v>55.0</c:v>
                </c:pt>
                <c:pt idx="2">
                  <c:v>90.0</c:v>
                </c:pt>
                <c:pt idx="3">
                  <c:v>65.0</c:v>
                </c:pt>
                <c:pt idx="4">
                  <c:v>45.0</c:v>
                </c:pt>
                <c:pt idx="5">
                  <c:v>70.0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Last year</c:v>
                </c:pt>
              </c:strCache>
            </c:strRef>
          </c:tx>
          <c:marker>
            <c:symbol val="circle"/>
            <c:size val="5"/>
          </c:marker>
          <c:cat>
            <c:strRef>
              <c:strCache>
                <c:ptCount val="6"/>
                <c:pt idx="0">
                  <c:v>Speed</c:v>
                </c:pt>
                <c:pt idx="1">
                  <c:v>Cost</c:v>
                </c:pt>
                <c:pt idx="2">
                  <c:v>Quality</c:v>
                </c:pt>
                <c:pt idx="3">
                  <c:v>Support</c:v>
                </c:pt>
                <c:pt idx="4">
                  <c:v>Reach</c:v>
                </c:pt>
                <c:pt idx="5">
                  <c:v>Risk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60.0</c:v>
                </c:pt>
                <c:pt idx="1">
                  <c:v>70.0</c:v>
                </c:pt>
                <c:pt idx="2">
                  <c:v>75.0</c:v>
                </c:pt>
                <c:pt idx="3">
                  <c:v>50.0</c:v>
                </c:pt>
                <c:pt idx="4">
                  <c:v>60.0</c:v>
                </c:pt>
                <c:pt idx="5">
                  <c:v>55.0</c:v>
                </c:pt>
              </c:numCache>
            </c:numRef>
          </c:val>
        </c:ser>
        <c:axId val="117000"/>
        <c:axId val="117001"/>
      </c:radarChart>
      <c:catAx>
        <c:axId val="117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7001"/>
        <c:crosses val="autoZero"/>
        <c:auto val="1"/>
        <c:lblAlgn val="ctr"/>
        <c:lblOffset val="100"/>
        <c:noMultiLvlLbl val="0"/>
      </c:catAx>
      <c:valAx>
        <c:axId val="117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7000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en-US" sz="1400" b="0"/>
              <a:t>Session range</a:t>
            </a:r>
          </a:p>
        </c:rich>
      </c:tx>
      <c:overlay val="0"/>
    </c:title>
    <c:autoTitleDeleted val="0"/>
    <c:plotArea>
      <c:layout/>
      <c:stockChart>
        <c:ser>
          <c:idx val="0"/>
          <c:order val="0"/>
          <c:tx>
            <c:strRef>
              <c:strCache>
                <c:ptCount val="1"/>
                <c:pt idx="0">
                  <c:v>High</c:v>
                </c:pt>
              </c:strCache>
            </c:strRef>
          </c:tx>
          <c:spPr>
            <a:ln w="19050">
              <a:noFill/>
            </a:ln>
          </c:spPr>
          <c:marker>
            <c:symbol val="none"/>
          </c:marker>
          <c:cat>
            <c:strRe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118.0</c:v>
                </c:pt>
                <c:pt idx="1">
                  <c:v>124.0</c:v>
                </c:pt>
                <c:pt idx="2">
                  <c:v>121.0</c:v>
                </c:pt>
                <c:pt idx="3">
                  <c:v>131.0</c:v>
                </c:pt>
                <c:pt idx="4">
                  <c:v>129.0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Low</c:v>
                </c:pt>
              </c:strCache>
            </c:strRef>
          </c:tx>
          <c:spPr>
            <a:ln w="19050">
              <a:noFill/>
            </a:ln>
          </c:spPr>
          <c:marker>
            <c:symbol val="none"/>
          </c:marker>
          <c:cat>
            <c:strRe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104.0</c:v>
                </c:pt>
                <c:pt idx="1">
                  <c:v>109.0</c:v>
                </c:pt>
                <c:pt idx="2">
                  <c:v>112.0</c:v>
                </c:pt>
                <c:pt idx="3">
                  <c:v>116.0</c:v>
                </c:pt>
                <c:pt idx="4">
                  <c:v>119.0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noFill/>
            </a:ln>
          </c:spPr>
          <c:marker>
            <c:symbol val="dot"/>
            <c:size val="3"/>
          </c:marker>
          <c:cat>
            <c:strRe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112.0</c:v>
                </c:pt>
                <c:pt idx="1">
                  <c:v>121.0</c:v>
                </c:pt>
                <c:pt idx="2">
                  <c:v>115.0</c:v>
                </c:pt>
                <c:pt idx="3">
                  <c:v>128.0</c:v>
                </c:pt>
                <c:pt idx="4">
                  <c:v>123.0</c:v>
                </c:pt>
              </c:numCache>
            </c:numRef>
          </c:val>
        </c:ser>
        <c:hiLowLines/>
        <c:axId val="118000"/>
        <c:axId val="118001"/>
      </c:stockChart>
      <c:catAx>
        <c:axId val="11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8001"/>
        <c:crosses val="autoZero"/>
        <c:auto val="1"/>
        <c:lblAlgn val="ctr"/>
        <c:lblOffset val="100"/>
        <c:noMultiLvlLbl val="0"/>
      </c:catAx>
      <c:valAx>
        <c:axId val="118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8000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view3D>
      <c:rotX val="15"/>
      <c:rotY val="20"/>
      <c:depthPercent val="100"/>
      <c:rAngAx val="1"/>
    </c:view3D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en-US" sz="1400" b="0"/>
              <a:t>Surface by quarter</a:t>
            </a:r>
          </a:p>
        </c:rich>
      </c:tx>
      <c:overlay val="0"/>
    </c:title>
    <c:autoTitleDeleted val="0"/>
    <c:plotArea>
      <c:layout/>
      <c:surfaceChart>
        <c:wireframe val="0"/>
        <c:ser>
          <c:idx val="0"/>
          <c:order val="0"/>
          <c:tx>
            <c:strRef>
              <c:strCache>
                <c:ptCount val="1"/>
                <c:pt idx="0">
                  <c:v>Low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10.0</c:v>
                </c:pt>
                <c:pt idx="1">
                  <c:v>16.0</c:v>
                </c:pt>
                <c:pt idx="2">
                  <c:v>22.0</c:v>
                </c:pt>
                <c:pt idx="3">
                  <c:v>19.0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Mid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18.0</c:v>
                </c:pt>
                <c:pt idx="1">
                  <c:v>26.0</c:v>
                </c:pt>
                <c:pt idx="2">
                  <c:v>31.0</c:v>
                </c:pt>
                <c:pt idx="3">
                  <c:v>27.0</c:v>
                </c:pt>
              </c:numCache>
            </c:numRef>
          </c:val>
        </c:ser>
        <c:ser>
          <c:idx val="2"/>
          <c:order val="2"/>
          <c:tx>
            <c:strRef>
              <c:strCache>
                <c:ptCount val="1"/>
                <c:pt idx="0">
                  <c:v>High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24.0</c:v>
                </c:pt>
                <c:pt idx="1">
                  <c:v>33.0</c:v>
                </c:pt>
                <c:pt idx="2">
                  <c:v>41.0</c:v>
                </c:pt>
                <c:pt idx="3">
                  <c:v>36.0</c:v>
                </c:pt>
              </c:numCache>
            </c:numRef>
          </c:val>
        </c:ser>
        <c:axId val="119000"/>
        <c:axId val="119001"/>
        <c:axId val="119002"/>
      </c:surfaceChart>
      <c:catAx>
        <c:axId val="119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9001"/>
        <c:crosses val="autoZero"/>
        <c:auto val="1"/>
        <c:lblAlgn val="ctr"/>
        <c:lblOffset val="100"/>
        <c:noMultiLvlLbl val="0"/>
      </c:catAx>
      <c:valAx>
        <c:axId val="119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9000"/>
        <c:crosses val="autoZero"/>
        <c:crossBetween val="between"/>
      </c:valAx>
      <c:serAx>
        <c:axId val="11900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9001"/>
        <c:crosses val="autoZero"/>
      </c:serAx>
    </c:plotArea>
    <c:legend>
      <c:legendPos val="r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view3D>
      <c:rotX val="15"/>
      <c:rotY val="20"/>
      <c:depthPercent val="100"/>
      <c:rAngAx val="1"/>
    </c:view3D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en-US" sz="1400" b="0"/>
              <a:t>Three-D columns</a:t>
            </a:r>
          </a:p>
        </c:rich>
      </c:tx>
      <c:overlay val="0"/>
    </c:title>
    <c:autoTitleDeleted val="0"/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36.0</c:v>
                </c:pt>
                <c:pt idx="1">
                  <c:v>48.0</c:v>
                </c:pt>
                <c:pt idx="2">
                  <c:v>41.0</c:v>
                </c:pt>
                <c:pt idx="3">
                  <c:v>55.0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31.0</c:v>
                </c:pt>
                <c:pt idx="1">
                  <c:v>52.0</c:v>
                </c:pt>
                <c:pt idx="2">
                  <c:v>46.0</c:v>
                </c:pt>
                <c:pt idx="3">
                  <c:v>49.0</c:v>
                </c:pt>
              </c:numCache>
            </c:numRef>
          </c:val>
        </c:ser>
        <c:gapWidth val="150"/>
        <c:gapDepth val="150"/>
        <c:shape val="box"/>
        <c:axId val="120000"/>
        <c:axId val="120001"/>
        <c:axId val="120002"/>
      </c:bar3DChart>
      <c:catAx>
        <c:axId val="12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0001"/>
        <c:crosses val="autoZero"/>
        <c:auto val="1"/>
        <c:lblAlgn val="ctr"/>
        <c:lblOffset val="100"/>
        <c:noMultiLvlLbl val="0"/>
      </c:catAx>
      <c:valAx>
        <c:axId val="120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0000"/>
        <c:crosses val="autoZero"/>
        <c:crossBetween val="between"/>
      </c:valAx>
      <c:serAx>
        <c:axId val="12000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0001"/>
        <c:crosses val="autoZero"/>
      </c:ser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view3D>
      <c:rotX val="15"/>
      <c:rotY val="20"/>
      <c:depthPercent val="100"/>
      <c:rAngAx val="1"/>
    </c:view3D>
    <c:autoTitleDeleted val="1"/>
    <c:plotArea>
      <c:layout/>
      <c:line3DChart>
        <c:grouping val="standard"/>
        <c:varyColors val="0"/>
        <c:ser>
          <c:idx val="0"/>
          <c:order val="0"/>
          <c:tx>
            <c:strRe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14.0</c:v>
                </c:pt>
                <c:pt idx="1">
                  <c:v>21.0</c:v>
                </c:pt>
                <c:pt idx="2">
                  <c:v>19.0</c:v>
                </c:pt>
                <c:pt idx="3">
                  <c:v>27.0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9.0</c:v>
                </c:pt>
                <c:pt idx="1">
                  <c:v>13.0</c:v>
                </c:pt>
                <c:pt idx="2">
                  <c:v>22.0</c:v>
                </c:pt>
                <c:pt idx="3">
                  <c:v>18.0</c:v>
                </c:pt>
              </c:numCache>
            </c:numRef>
          </c:val>
          <c:smooth val="0"/>
        </c:ser>
        <c:gapDepth val="150"/>
        <c:axId val="121000"/>
        <c:axId val="121001"/>
        <c:axId val="121002"/>
      </c:line3DChart>
      <c:catAx>
        <c:axId val="121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1001"/>
        <c:crosses val="autoZero"/>
        <c:auto val="1"/>
        <c:lblAlgn val="ctr"/>
        <c:lblOffset val="100"/>
        <c:noMultiLvlLbl val="0"/>
      </c:catAx>
      <c:valAx>
        <c:axId val="121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1000"/>
        <c:crosses val="autoZero"/>
        <c:crossBetween val="between"/>
      </c:valAx>
      <c:serAx>
        <c:axId val="12100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1001"/>
        <c:crosses val="autoZero"/>
      </c:ser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view3D>
      <c:rotX val="15"/>
      <c:rotY val="20"/>
      <c:depthPercent val="100"/>
      <c:rAngAx val="1"/>
    </c:view3D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en-US" sz="1400" b="0"/>
              <a:t>Three-D pie</a:t>
            </a:r>
          </a:p>
        </c:rich>
      </c:tx>
      <c:overlay val="0"/>
    </c:title>
    <c:autoTitleDeleted val="0"/>
    <c:plotArea>
      <c:layout/>
      <c:pie3DChart>
        <c:varyColors val="1"/>
        <c:ser>
          <c:idx val="0"/>
          <c:order val="0"/>
          <c:tx>
            <c:strRe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strCache>
                <c:ptCount val="5"/>
                <c:pt idx="0">
                  <c:v>Direct</c:v>
                </c:pt>
                <c:pt idx="1">
                  <c:v>Partner</c:v>
                </c:pt>
                <c:pt idx="2">
                  <c:v>Online</c:v>
                </c:pt>
                <c:pt idx="3">
                  <c:v>Retail</c:v>
                </c:pt>
                <c:pt idx="4">
                  <c:v>Wholesale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31.0</c:v>
                </c:pt>
                <c:pt idx="1">
                  <c:v>24.0</c:v>
                </c:pt>
                <c:pt idx="2">
                  <c:v>20.0</c:v>
                </c:pt>
                <c:pt idx="3">
                  <c:v>14.0</c:v>
                </c:pt>
                <c:pt idx="4">
                  <c:v>11.0</c:v>
                </c:pt>
              </c:numCache>
            </c:numRef>
          </c:val>
        </c:ser>
      </c:pie3DChart>
    </c:plotArea>
    <c:legend>
      <c:legendPos val="r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view3D>
      <c:rotX val="15"/>
      <c:rotY val="20"/>
      <c:depthPercent val="100"/>
      <c:rAngAx val="1"/>
    </c:view3D>
    <c:autoTitleDeleted val="1"/>
    <c:plotArea>
      <c:layout/>
      <c:area3DChart>
        <c:grouping val="stacked"/>
        <c:varyColors val="0"/>
        <c:ser>
          <c:idx val="0"/>
          <c:order val="0"/>
          <c:tx>
            <c:strRef>
              <c:strCache>
                <c:ptCount val="1"/>
                <c:pt idx="0">
                  <c:v>Base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22.0</c:v>
                </c:pt>
                <c:pt idx="1">
                  <c:v>26.0</c:v>
                </c:pt>
                <c:pt idx="2">
                  <c:v>30.0</c:v>
                </c:pt>
                <c:pt idx="3">
                  <c:v>35.0</c:v>
                </c:pt>
              </c:numCache>
            </c:numRef>
          </c:val>
        </c:ser>
        <c:ser>
          <c:idx val="1"/>
          <c:order val="1"/>
          <c:tx>
            <c:strRef>
              <c:strCache>
                <c:ptCount val="1"/>
                <c:pt idx="0">
                  <c:v>Uplift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8.0</c:v>
                </c:pt>
                <c:pt idx="1">
                  <c:v>12.0</c:v>
                </c:pt>
                <c:pt idx="2">
                  <c:v>9.0</c:v>
                </c:pt>
                <c:pt idx="3">
                  <c:v>15.0</c:v>
                </c:pt>
              </c:numCache>
            </c:numRef>
          </c:val>
        </c:ser>
        <c:gapDepth val="150"/>
        <c:axId val="122000"/>
        <c:axId val="122001"/>
        <c:axId val="122002"/>
      </c:area3DChart>
      <c:catAx>
        <c:axId val="122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2001"/>
        <c:crosses val="autoZero"/>
        <c:auto val="1"/>
        <c:lblAlgn val="ctr"/>
        <c:lblOffset val="100"/>
        <c:noMultiLvlLbl val="0"/>
      </c:catAx>
      <c:valAx>
        <c:axId val="122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2000"/>
        <c:crosses val="autoZero"/>
        <c:crossBetween val="between"/>
      </c:valAx>
      <c:serAx>
        <c:axId val="12200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2001"/>
        <c:crosses val="autoZero"/>
      </c:ser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/>
            </a:pPr>
            <a:r>
              <a:rPr lang="en-US" sz="1400" b="0"/>
              <a:t>Revenue and margin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120.0</c:v>
                </c:pt>
                <c:pt idx="1">
                  <c:v>148.0</c:v>
                </c:pt>
                <c:pt idx="2">
                  <c:v>131.0</c:v>
                </c:pt>
                <c:pt idx="3">
                  <c:v>166.0</c:v>
                </c:pt>
              </c:numCache>
            </c:numRef>
          </c:val>
        </c:ser>
        <c:gapWidth val="150"/>
        <c:axId val="123000"/>
        <c:axId val="123001"/>
      </c:barChart>
      <c:lineChart>
        <c:grouping val="standard"/>
        <c:varyColors val="0"/>
        <c:ser>
          <c:idx val="1"/>
          <c:order val="1"/>
          <c:tx>
            <c:strRef>
              <c:strCache>
                <c:ptCount val="1"/>
                <c:pt idx="0">
                  <c:v>Margin %</c:v>
                </c:pt>
              </c:strCache>
            </c:strRef>
          </c:tx>
          <c:marker>
            <c:symbol val="circle"/>
            <c:size val="5"/>
          </c:marker>
          <c:cat>
            <c:strRe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12.5</c:v>
                </c:pt>
                <c:pt idx="1">
                  <c:v>14.0</c:v>
                </c:pt>
                <c:pt idx="2">
                  <c:v>11.8</c:v>
                </c:pt>
                <c:pt idx="3">
                  <c:v>15.2</c:v>
                </c:pt>
              </c:numCache>
            </c:numRef>
          </c:val>
          <c:smooth val="0"/>
        </c:ser>
        <c:marker val="1"/>
        <c:axId val="123002"/>
        <c:axId val="123003"/>
      </c:lineChart>
      <c:catAx>
        <c:axId val="123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3001"/>
        <c:crosses val="autoZero"/>
        <c:auto val="1"/>
        <c:lblAlgn val="ctr"/>
        <c:lblOffset val="100"/>
        <c:noMultiLvlLbl val="0"/>
      </c:catAx>
      <c:valAx>
        <c:axId val="123001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3000"/>
        <c:crosses val="autoZero"/>
        <c:crossBetween val="between"/>
      </c:valAx>
      <c:valAx>
        <c:axId val="12300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123002"/>
        <c:crosses val="max"/>
        <c:crossBetween val="between"/>
      </c:valAx>
      <c:catAx>
        <c:axId val="12300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3003"/>
        <c:crosses val="autoZero"/>
        <c:auto val="1"/>
        <c:lblAlgn val="ctr"/>
        <c:lblOffset val="100"/>
        <c:noMultiLvlLbl val="0"/>
      </c:catAx>
    </c:plotArea>
    <c:legend>
      <c:legendPos val="b"/>
      <c:overlay val="0"/>
    </c:legend>
    <c:plotVisOnly val="1"/>
    <c:dispBlanksAs val="gap"/>
  </c:chart>
  <c:txPr>
    <a:bodyPr/>
    <a:lstStyle/>
    <a:p>
      <a:pPr>
        <a:defRPr sz="1000"/>
      </a:pPr>
      <a:endParaRPr lang="en-US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uthoring Contract Layout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uthoring Contract Master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1.xml'/></Relationships>
</file>

<file path=ppt/slides/_rels/slide2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2.xml'/></Relationships>
</file>

<file path=ppt/slides/_rels/slide3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3.xml'/></Relationships>
</file>

<file path=ppt/slides/_rels/slide4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4.xml'/></Relationships>
</file>

<file path=ppt/slides/_rels/slide5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5.xml'/></Relationships>
</file>

<file path=ppt/slides/_rels/slide6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6.xml'/></Relationships>
</file>

<file path=ppt/slides/_rels/slide7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7.xml'/></Relationships>
</file>

<file path=ppt/slides/_rels/slide8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8.xml'/></Relationships>
</file>

<file path=ppt/slides/_rels/slide9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9.xml'/></Relationships>
</file>

<file path=ppt/slides/_rels/slide10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10.xml'/></Relationships>
</file>

<file path=ppt/slides/_rels/slide11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11.xml'/></Relationships>
</file>

<file path=ppt/slides/_rels/slide12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12.xml'/></Relationships>
</file>

<file path=ppt/slides/_rels/slide13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13.xml'/></Relationships>
</file>

<file path=ppt/slides/_rels/slide14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14.xml'/></Relationships>
</file>

<file path=ppt/slides/_rels/slide15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15.xml'/></Relationships>
</file>

<file path=ppt/slides/_rels/slide16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16.xml'/></Relationships>
</file>

<file path=ppt/slides/_rels/slide17.xml.rels><?xml version='1.0' encoding='UTF-8' standalone='yes'?><Relationships xmlns='http://schemas.openxmlformats.org/package/2006/relationships'><Relationship Id='rId1' Type='http://schemas.openxmlformats.org/officeDocument/2006/relationships/slideLayout' Target='../slideLayouts/slideLayout1.xml'/><Relationship Id='rIdChart' Type='http://schemas.openxmlformats.org/officeDocument/2006/relationships/chart' Target='../charts/chart17.xml'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1  barChart - clustered columns, rotated category labels, legend below</a:t>
            </a:r>
            <a:endParaRPr lang="en-US" sz="1000"/>
          </a:p>
        </p:txBody>
      </p:sp>
      <p:graphicFrame>
        <p:nvGraphicFramePr>
          <p:cNvPr id="100" name="barChart"/>
          <p:cNvGraphicFramePr/>
          <p:nvPr/>
        </p:nvGraphicFramePr>
        <p:xfrm>
          <a:off x="457200" y="58420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2  barChart - horizontal bars, value axis along the bottom, data labels</a:t>
            </a:r>
            <a:endParaRPr lang="en-US" sz="1000"/>
          </a:p>
        </p:txBody>
      </p:sp>
      <p:graphicFrame>
        <p:nvGraphicFramePr>
          <p:cNvPr id="101" name="barChart-bar"/>
          <p:cNvGraphicFramePr/>
          <p:nvPr/>
        </p:nvGraphicFramePr>
        <p:xfrm>
          <a:off x="457200" y="584200"/>
          <a:ext cx="82296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3  lineChart - three series with markers, legend above</a:t>
            </a:r>
            <a:endParaRPr lang="en-US" sz="1000"/>
          </a:p>
        </p:txBody>
      </p:sp>
      <p:graphicFrame>
        <p:nvGraphicFramePr>
          <p:cNvPr id="102" name="lineChart"/>
          <p:cNvGraphicFramePr/>
          <p:nvPr/>
        </p:nvGraphicFramePr>
        <p:xfrm>
          <a:off x="457200" y="584200"/>
          <a:ext cx="82296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4  areaChart - stacked, no crossBetween stated, legend at the right</a:t>
            </a:r>
            <a:endParaRPr lang="en-US" sz="1000"/>
          </a:p>
        </p:txBody>
      </p:sp>
      <p:graphicFrame>
        <p:nvGraphicFramePr>
          <p:cNvPr id="103" name="areaChart"/>
          <p:cNvGraphicFramePr/>
          <p:nvPr/>
        </p:nvGraphicFramePr>
        <p:xfrm>
          <a:off x="457200" y="584200"/>
          <a:ext cx="82296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5  scatterChart - two value axes, no category axis</a:t>
            </a:r>
            <a:endParaRPr lang="en-US" sz="1000"/>
          </a:p>
        </p:txBody>
      </p:sp>
      <p:graphicFrame>
        <p:nvGraphicFramePr>
          <p:cNvPr id="104" name="scatterChart"/>
          <p:cNvGraphicFramePr/>
          <p:nvPr/>
        </p:nvGraphicFramePr>
        <p:xfrm>
          <a:off x="457200" y="584200"/>
          <a:ext cx="6604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6  bubbleChart - two series, no bubble3D (it hangs PowerPoint)</a:t>
            </a:r>
            <a:endParaRPr lang="en-US" sz="1000"/>
          </a:p>
        </p:txBody>
      </p:sp>
      <p:graphicFrame>
        <p:nvGraphicFramePr>
          <p:cNvPr id="105" name="bubbleChart"/>
          <p:cNvGraphicFramePr/>
          <p:nvPr/>
        </p:nvGraphicFramePr>
        <p:xfrm>
          <a:off x="457200" y="584200"/>
          <a:ext cx="6604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7  pieChart - one series, varyColors, legend at the right</a:t>
            </a:r>
            <a:endParaRPr lang="en-US" sz="1000"/>
          </a:p>
        </p:txBody>
      </p:sp>
      <p:graphicFrame>
        <p:nvGraphicFramePr>
          <p:cNvPr id="106" name="pieChart"/>
          <p:cNvGraphicFramePr/>
          <p:nvPr/>
        </p:nvGraphicFramePr>
        <p:xfrm>
          <a:off x="457200" y="584200"/>
          <a:ext cx="5080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8  doughnutChart - holeSize 55, legend at the left</a:t>
            </a:r>
            <a:endParaRPr lang="en-US" sz="1000"/>
          </a:p>
        </p:txBody>
      </p:sp>
      <p:graphicFrame>
        <p:nvGraphicFramePr>
          <p:cNvPr id="107" name="doughnutChart"/>
          <p:cNvGraphicFramePr/>
          <p:nvPr/>
        </p:nvGraphicFramePr>
        <p:xfrm>
          <a:off x="457200" y="584200"/>
          <a:ext cx="5080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9  ofPieChart - bar form, split by position</a:t>
            </a:r>
            <a:endParaRPr lang="en-US" sz="1000"/>
          </a:p>
        </p:txBody>
      </p:sp>
      <p:graphicFrame>
        <p:nvGraphicFramePr>
          <p:cNvPr id="108" name="ofPieChart"/>
          <p:cNvGraphicFramePr/>
          <p:nvPr/>
        </p:nvGraphicFramePr>
        <p:xfrm>
          <a:off x="457200" y="584200"/>
          <a:ext cx="6604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10  radarChart - six spokes, two series</a:t>
            </a:r>
            <a:endParaRPr lang="en-US" sz="1000"/>
          </a:p>
        </p:txBody>
      </p:sp>
      <p:graphicFrame>
        <p:nvGraphicFramePr>
          <p:cNvPr id="109" name="radarChart"/>
          <p:cNvGraphicFramePr/>
          <p:nvPr/>
        </p:nvGraphicFramePr>
        <p:xfrm>
          <a:off x="457200" y="584200"/>
          <a:ext cx="5080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11  stockChart - high/low/close with hiLowLines</a:t>
            </a:r>
            <a:endParaRPr lang="en-US" sz="1000"/>
          </a:p>
        </p:txBody>
      </p:sp>
      <p:graphicFrame>
        <p:nvGraphicFramePr>
          <p:cNvPr id="110" name="stockChart"/>
          <p:cNvGraphicFramePr/>
          <p:nvPr/>
        </p:nvGraphicFramePr>
        <p:xfrm>
          <a:off x="457200" y="584200"/>
          <a:ext cx="82296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12  surfaceChart - a lit mesh banded by value, with a legend of bands</a:t>
            </a:r>
            <a:endParaRPr lang="en-US" sz="1000"/>
          </a:p>
        </p:txBody>
      </p:sp>
      <p:graphicFrame>
        <p:nvGraphicFramePr>
          <p:cNvPr id="111" name="surfaceChart"/>
          <p:cNvGraphicFramePr/>
          <p:nvPr/>
        </p:nvGraphicFramePr>
        <p:xfrm>
          <a:off x="457200" y="584200"/>
          <a:ext cx="6604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13  bar3DChart - parses as barChart and draws flat</a:t>
            </a:r>
            <a:endParaRPr lang="en-US" sz="1000"/>
          </a:p>
        </p:txBody>
      </p:sp>
      <p:graphicFrame>
        <p:nvGraphicFramePr>
          <p:cNvPr id="112" name="bar3DChart"/>
          <p:cNvGraphicFramePr/>
          <p:nvPr/>
        </p:nvGraphicFramePr>
        <p:xfrm>
          <a:off x="457200" y="584200"/>
          <a:ext cx="6604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14  line3DChart - parses as lineChart and draws flat</a:t>
            </a:r>
            <a:endParaRPr lang="en-US" sz="1000"/>
          </a:p>
        </p:txBody>
      </p:sp>
      <p:graphicFrame>
        <p:nvGraphicFramePr>
          <p:cNvPr id="113" name="line3DChart"/>
          <p:cNvGraphicFramePr/>
          <p:nvPr/>
        </p:nvGraphicFramePr>
        <p:xfrm>
          <a:off x="457200" y="584200"/>
          <a:ext cx="6604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15  pie3DChart - parses as pieChart and draws flat</a:t>
            </a:r>
            <a:endParaRPr lang="en-US" sz="1000"/>
          </a:p>
        </p:txBody>
      </p:sp>
      <p:graphicFrame>
        <p:nvGraphicFramePr>
          <p:cNvPr id="114" name="pie3DChart"/>
          <p:cNvGraphicFramePr/>
          <p:nvPr/>
        </p:nvGraphicFramePr>
        <p:xfrm>
          <a:off x="457200" y="584200"/>
          <a:ext cx="5080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16  area3DChart - parses as areaChart and draws flat</a:t>
            </a:r>
            <a:endParaRPr lang="en-US" sz="1000"/>
          </a:p>
        </p:txBody>
      </p:sp>
      <p:graphicFrame>
        <p:nvGraphicFramePr>
          <p:cNvPr id="115" name="area3DChart"/>
          <p:cNvGraphicFramePr/>
          <p:nvPr/>
        </p:nvGraphicFramePr>
        <p:xfrm>
          <a:off x="457200" y="584200"/>
          <a:ext cx="6604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ption"/>
          <p:cNvSpPr txBox="1"/>
          <p:nvPr/>
        </p:nvSpPr>
        <p:spPr>
          <a:xfrm>
            <a:off x="457200" y="1778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000" b="0">
                <a:solidFill>
                  <a:srgbClr val="334155"/>
                </a:solidFill>
              </a:rPr>
              <a:t>17  combo - barChart plus lineChart on a secondary value axis</a:t>
            </a:r>
            <a:endParaRPr lang="en-US" sz="1000"/>
          </a:p>
        </p:txBody>
      </p:sp>
      <p:graphicFrame>
        <p:nvGraphicFramePr>
          <p:cNvPr id="116" name="combo"/>
          <p:cNvGraphicFramePr/>
          <p:nvPr/>
        </p:nvGraphicFramePr>
        <p:xfrm>
          <a:off x="457200" y="584200"/>
          <a:ext cx="82296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pptx-glimpse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pptx-glimpse</dc:creator>
  <cp:lastModifiedBy>pptx-glimpse</cp:lastModifiedBy>
</cp:coreProperties>
</file>